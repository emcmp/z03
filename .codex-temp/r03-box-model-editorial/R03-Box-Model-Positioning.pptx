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0" r:id="rId28"/>
    <p:sldId id="291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0" r:id="rId38"/>
    <p:sldId id="289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9" r:id="rId55"/>
    <p:sldId id="307" r:id="rId56"/>
    <p:sldId id="312" r:id="rId57"/>
    <p:sldId id="308" r:id="rId58"/>
    <p:sldId id="313" r:id="rId59"/>
    <p:sldId id="310" r:id="rId60"/>
    <p:sldId id="311" r:id="rId61"/>
    <p:sldId id="314" r:id="rId6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81AE"/>
    <a:srgbClr val="A785B8"/>
    <a:srgbClr val="7F7FBB"/>
    <a:srgbClr val="8197B6"/>
    <a:srgbClr val="81ADB6"/>
    <a:srgbClr val="E351E7"/>
    <a:srgbClr val="F75A3B"/>
    <a:srgbClr val="DDAB5B"/>
    <a:srgbClr val="67D571"/>
    <a:srgbClr val="8080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074D7E-535A-3659-DF59-694507EB9D58}" v="2" dt="2025-08-20T20:25:38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909" autoAdjust="0"/>
    <p:restoredTop sz="93417" autoAdjust="0"/>
  </p:normalViewPr>
  <p:slideViewPr>
    <p:cSldViewPr snapToGrid="0">
      <p:cViewPr varScale="1">
        <p:scale>
          <a:sx n="107" d="100"/>
          <a:sy n="107" d="100"/>
        </p:scale>
        <p:origin x="133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hraf Moussaid" userId="03a2e7ce-53ea-4e25-be87-7ad6548d38bb" providerId="ADAL" clId="{705A33BE-00D1-44EC-98F2-EB27A8DA9795}"/>
    <pc:docChg chg="modSld">
      <pc:chgData name="Achraf Moussaid" userId="03a2e7ce-53ea-4e25-be87-7ad6548d38bb" providerId="ADAL" clId="{705A33BE-00D1-44EC-98F2-EB27A8DA9795}" dt="2023-01-26T16:15:22.106" v="3" actId="20577"/>
      <pc:docMkLst>
        <pc:docMk/>
      </pc:docMkLst>
      <pc:sldChg chg="modSp mod">
        <pc:chgData name="Achraf Moussaid" userId="03a2e7ce-53ea-4e25-be87-7ad6548d38bb" providerId="ADAL" clId="{705A33BE-00D1-44EC-98F2-EB27A8DA9795}" dt="2023-01-26T16:15:22.106" v="3" actId="20577"/>
        <pc:sldMkLst>
          <pc:docMk/>
          <pc:sldMk cId="1849829184" sldId="281"/>
        </pc:sldMkLst>
      </pc:sldChg>
    </pc:docChg>
  </pc:docChgLst>
  <pc:docChgLst>
    <pc:chgData name="Éric Mathieu" userId="S::eric.mathieu@cegepmontpetit.ca::876603ee-f650-40c1-9881-187c9e3f5540" providerId="AD" clId="Web-{ED074D7E-535A-3659-DF59-694507EB9D58}"/>
    <pc:docChg chg="addSld delSld">
      <pc:chgData name="Éric Mathieu" userId="S::eric.mathieu@cegepmontpetit.ca::876603ee-f650-40c1-9881-187c9e3f5540" providerId="AD" clId="Web-{ED074D7E-535A-3659-DF59-694507EB9D58}" dt="2025-08-20T20:25:38.271" v="1"/>
      <pc:docMkLst>
        <pc:docMk/>
      </pc:docMkLst>
      <pc:sldChg chg="add del">
        <pc:chgData name="Éric Mathieu" userId="S::eric.mathieu@cegepmontpetit.ca::876603ee-f650-40c1-9881-187c9e3f5540" providerId="AD" clId="Web-{ED074D7E-535A-3659-DF59-694507EB9D58}" dt="2025-08-20T20:25:38.271" v="1"/>
        <pc:sldMkLst>
          <pc:docMk/>
          <pc:sldMk cId="3313483383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E27CE56-D3DB-47CB-A3DF-9925A438F2F3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5E3EF0A-0CCB-427A-8A95-17E1B6BB1EE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8916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29E3009-C96B-431A-A9B8-151F3BBD4A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79" y="4301365"/>
            <a:ext cx="12192000" cy="3619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37500BF-05C0-4D55-A403-614DA4CD02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094740"/>
            <a:ext cx="12192000" cy="20897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5FF1AD6-176C-4A10-B79F-84B8D88B2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225" y="2210305"/>
            <a:ext cx="11511751" cy="1299658"/>
          </a:xfr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EE2F0E-41A9-42D8-BD88-4956C11EE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225" y="3602038"/>
            <a:ext cx="11511751" cy="53395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0ACFD9-C0B7-4A48-9E31-8BF1F314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B50282-5BCA-4D3A-94AF-2C84912DE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853C81-8819-40DC-9094-805DB99E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0707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>
            <a:extLst>
              <a:ext uri="{FF2B5EF4-FFF2-40B4-BE49-F238E27FC236}">
                <a16:creationId xmlns:a16="http://schemas.microsoft.com/office/drawing/2014/main" id="{06923111-8203-4B79-BEAD-E031C2DFE8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440" y="899733"/>
            <a:ext cx="1543050" cy="211455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4CFABC3-E156-4CA3-8D85-1326B76A0D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00579"/>
            <a:ext cx="12192000" cy="53644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BEC3A97-691A-4C01-A868-CF93D6CB5D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4224"/>
            <a:ext cx="12192000" cy="83515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8AE2ABD-74EB-4C40-A423-2793F742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" y="136524"/>
            <a:ext cx="5355449" cy="60831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42597-091B-49A8-BF65-49B9DFF9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/>
          <a:lstStyle>
            <a:lvl1pPr>
              <a:buFont typeface="Symbol" panose="05050102010706020507" pitchFamily="18" charset="2"/>
              <a:buChar char=""/>
              <a:defRPr>
                <a:solidFill>
                  <a:srgbClr val="B681AE"/>
                </a:solidFill>
              </a:defRPr>
            </a:lvl1pPr>
            <a:lvl2pPr>
              <a:buFont typeface="Courier New" panose="02070309020205020404" pitchFamily="49" charset="0"/>
              <a:buChar char="o"/>
              <a:defRPr>
                <a:solidFill>
                  <a:srgbClr val="B681AE"/>
                </a:solidFill>
              </a:defRPr>
            </a:lvl2pPr>
            <a:lvl3pPr>
              <a:buFont typeface="Arial" panose="020B0604020202020204" pitchFamily="34" charset="0"/>
              <a:buChar char="•"/>
              <a:defRPr>
                <a:solidFill>
                  <a:srgbClr val="B681AE"/>
                </a:solidFill>
              </a:defRPr>
            </a:lvl3pPr>
            <a:lvl4pPr>
              <a:buFont typeface="Symbol" panose="05050102010706020507" pitchFamily="18" charset="2"/>
              <a:buChar char=""/>
              <a:defRPr>
                <a:solidFill>
                  <a:srgbClr val="B681AE"/>
                </a:solidFill>
              </a:defRPr>
            </a:lvl4pPr>
            <a:lvl5pPr>
              <a:buFont typeface="Symbol" panose="05050102010706020507" pitchFamily="18" charset="2"/>
              <a:buChar char=""/>
              <a:defRPr>
                <a:solidFill>
                  <a:srgbClr val="B681AE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6F0D96-2FC6-41FE-8F4D-3BD0C895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15AF6-EA85-4630-AD21-146CDDD5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7F81B4-34C2-4D55-8917-1F268458A624}"/>
              </a:ext>
            </a:extLst>
          </p:cNvPr>
          <p:cNvSpPr txBox="1"/>
          <p:nvPr userDrawn="1"/>
        </p:nvSpPr>
        <p:spPr>
          <a:xfrm>
            <a:off x="10112901" y="6430304"/>
            <a:ext cx="2028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bg1"/>
                </a:solidFill>
              </a:rPr>
              <a:t>Programmation Web serveur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40532DC-AA6C-4921-B626-981D8BA9B57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22468" y="264683"/>
            <a:ext cx="239365" cy="35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19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0DCDD8F-D46A-4666-B8B8-35A7C25CC3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97944"/>
            <a:ext cx="12192000" cy="5334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EB0A035-BA97-42C7-8BBD-00562D4D6C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6936"/>
            <a:ext cx="12192000" cy="8382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8AE2ABD-74EB-4C40-A423-2793F742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" y="136524"/>
            <a:ext cx="5355449" cy="60831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42597-091B-49A8-BF65-49B9DFF9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/>
          <a:lstStyle>
            <a:lvl1pPr>
              <a:buFont typeface="Symbol" panose="05050102010706020507" pitchFamily="18" charset="2"/>
              <a:buChar char=""/>
              <a:defRPr>
                <a:solidFill>
                  <a:srgbClr val="A785B8"/>
                </a:solidFill>
              </a:defRPr>
            </a:lvl1pPr>
            <a:lvl2pPr>
              <a:buFont typeface="Courier New" panose="02070309020205020404" pitchFamily="49" charset="0"/>
              <a:buChar char="o"/>
              <a:defRPr>
                <a:solidFill>
                  <a:srgbClr val="A785B8"/>
                </a:solidFill>
              </a:defRPr>
            </a:lvl2pPr>
            <a:lvl3pPr>
              <a:buFont typeface="Arial" panose="020B0604020202020204" pitchFamily="34" charset="0"/>
              <a:buChar char="•"/>
              <a:defRPr>
                <a:solidFill>
                  <a:srgbClr val="A785B8"/>
                </a:solidFill>
              </a:defRPr>
            </a:lvl3pPr>
            <a:lvl4pPr>
              <a:buFont typeface="Symbol" panose="05050102010706020507" pitchFamily="18" charset="2"/>
              <a:buChar char=""/>
              <a:defRPr>
                <a:solidFill>
                  <a:srgbClr val="A785B8"/>
                </a:solidFill>
              </a:defRPr>
            </a:lvl4pPr>
            <a:lvl5pPr>
              <a:buFont typeface="Symbol" panose="05050102010706020507" pitchFamily="18" charset="2"/>
              <a:buChar char=""/>
              <a:defRPr>
                <a:solidFill>
                  <a:srgbClr val="A785B8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6F0D96-2FC6-41FE-8F4D-3BD0C895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15AF6-EA85-4630-AD21-146CDDD5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7F81B4-34C2-4D55-8917-1F268458A624}"/>
              </a:ext>
            </a:extLst>
          </p:cNvPr>
          <p:cNvSpPr txBox="1"/>
          <p:nvPr userDrawn="1"/>
        </p:nvSpPr>
        <p:spPr>
          <a:xfrm>
            <a:off x="10106845" y="6430304"/>
            <a:ext cx="2034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bg1"/>
                </a:solidFill>
              </a:rPr>
              <a:t>Programmation Web serveur</a:t>
            </a:r>
          </a:p>
        </p:txBody>
      </p:sp>
    </p:spTree>
    <p:extLst>
      <p:ext uri="{BB962C8B-B14F-4D97-AF65-F5344CB8AC3E}">
        <p14:creationId xmlns:p14="http://schemas.microsoft.com/office/powerpoint/2010/main" val="1955240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D8225C7-A1A5-4DEB-AAE2-E70409CE0B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4224"/>
            <a:ext cx="12192000" cy="8382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E676564-779F-401F-9DFB-C95638229F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03121"/>
            <a:ext cx="12192000" cy="533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8AE2ABD-74EB-4C40-A423-2793F742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" y="136524"/>
            <a:ext cx="5355449" cy="60831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42597-091B-49A8-BF65-49B9DFF9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/>
          <a:lstStyle>
            <a:lvl1pPr>
              <a:buFont typeface="Symbol" panose="05050102010706020507" pitchFamily="18" charset="2"/>
              <a:buChar char=""/>
              <a:defRPr>
                <a:solidFill>
                  <a:srgbClr val="8080BB"/>
                </a:solidFill>
              </a:defRPr>
            </a:lvl1pPr>
            <a:lvl2pPr>
              <a:buFont typeface="Courier New" panose="02070309020205020404" pitchFamily="49" charset="0"/>
              <a:buChar char="o"/>
              <a:defRPr>
                <a:solidFill>
                  <a:srgbClr val="8080BB"/>
                </a:solidFill>
              </a:defRPr>
            </a:lvl2pPr>
            <a:lvl3pPr>
              <a:buFont typeface="Arial" panose="020B0604020202020204" pitchFamily="34" charset="0"/>
              <a:buChar char="•"/>
              <a:defRPr>
                <a:solidFill>
                  <a:srgbClr val="8080BB"/>
                </a:solidFill>
              </a:defRPr>
            </a:lvl3pPr>
            <a:lvl4pPr>
              <a:buFont typeface="Symbol" panose="05050102010706020507" pitchFamily="18" charset="2"/>
              <a:buChar char=""/>
              <a:defRPr>
                <a:solidFill>
                  <a:srgbClr val="8080BB"/>
                </a:solidFill>
              </a:defRPr>
            </a:lvl4pPr>
            <a:lvl5pPr>
              <a:buFont typeface="Symbol" panose="05050102010706020507" pitchFamily="18" charset="2"/>
              <a:buChar char=""/>
              <a:defRPr>
                <a:solidFill>
                  <a:srgbClr val="8080BB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6F0D96-2FC6-41FE-8F4D-3BD0C895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15AF6-EA85-4630-AD21-146CDDD5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7F81B4-34C2-4D55-8917-1F268458A624}"/>
              </a:ext>
            </a:extLst>
          </p:cNvPr>
          <p:cNvSpPr txBox="1"/>
          <p:nvPr userDrawn="1"/>
        </p:nvSpPr>
        <p:spPr>
          <a:xfrm>
            <a:off x="10022067" y="6430304"/>
            <a:ext cx="2119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bg1"/>
                </a:solidFill>
              </a:rPr>
              <a:t>Programmation Web serveur</a:t>
            </a:r>
          </a:p>
        </p:txBody>
      </p:sp>
    </p:spTree>
    <p:extLst>
      <p:ext uri="{BB962C8B-B14F-4D97-AF65-F5344CB8AC3E}">
        <p14:creationId xmlns:p14="http://schemas.microsoft.com/office/powerpoint/2010/main" val="2916417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5C23620-5D2E-424B-92C0-1DDE3C248F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99778"/>
            <a:ext cx="12192000" cy="5334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2E364DD-3988-45CD-8F1D-400F5613DE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6339"/>
            <a:ext cx="12192000" cy="8382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8AE2ABD-74EB-4C40-A423-2793F742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" y="136524"/>
            <a:ext cx="5355449" cy="60831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42597-091B-49A8-BF65-49B9DFF9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/>
          <a:lstStyle>
            <a:lvl1pPr>
              <a:buFont typeface="Symbol" panose="05050102010706020507" pitchFamily="18" charset="2"/>
              <a:buChar char=""/>
              <a:defRPr>
                <a:solidFill>
                  <a:srgbClr val="8197B6"/>
                </a:solidFill>
              </a:defRPr>
            </a:lvl1pPr>
            <a:lvl2pPr>
              <a:buFont typeface="Courier New" panose="02070309020205020404" pitchFamily="49" charset="0"/>
              <a:buChar char="o"/>
              <a:defRPr>
                <a:solidFill>
                  <a:srgbClr val="8197B6"/>
                </a:solidFill>
              </a:defRPr>
            </a:lvl2pPr>
            <a:lvl3pPr>
              <a:buFont typeface="Arial" panose="020B0604020202020204" pitchFamily="34" charset="0"/>
              <a:buChar char="•"/>
              <a:defRPr>
                <a:solidFill>
                  <a:srgbClr val="8197B6"/>
                </a:solidFill>
              </a:defRPr>
            </a:lvl3pPr>
            <a:lvl4pPr>
              <a:buFont typeface="Symbol" panose="05050102010706020507" pitchFamily="18" charset="2"/>
              <a:buChar char=""/>
              <a:defRPr>
                <a:solidFill>
                  <a:srgbClr val="8197B6"/>
                </a:solidFill>
              </a:defRPr>
            </a:lvl4pPr>
            <a:lvl5pPr>
              <a:buFont typeface="Symbol" panose="05050102010706020507" pitchFamily="18" charset="2"/>
              <a:buChar char=""/>
              <a:defRPr>
                <a:solidFill>
                  <a:srgbClr val="8197B6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6F0D96-2FC6-41FE-8F4D-3BD0C895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15AF6-EA85-4630-AD21-146CDDD5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7F81B4-34C2-4D55-8917-1F268458A624}"/>
              </a:ext>
            </a:extLst>
          </p:cNvPr>
          <p:cNvSpPr txBox="1"/>
          <p:nvPr userDrawn="1"/>
        </p:nvSpPr>
        <p:spPr>
          <a:xfrm>
            <a:off x="10016011" y="6430304"/>
            <a:ext cx="2125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bg1"/>
                </a:solidFill>
              </a:rPr>
              <a:t>Programmation Web serveur</a:t>
            </a:r>
          </a:p>
        </p:txBody>
      </p:sp>
    </p:spTree>
    <p:extLst>
      <p:ext uri="{BB962C8B-B14F-4D97-AF65-F5344CB8AC3E}">
        <p14:creationId xmlns:p14="http://schemas.microsoft.com/office/powerpoint/2010/main" val="136264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CC9A27B5-EECC-4B18-B7D4-6B83E677D2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92366"/>
            <a:ext cx="12192000" cy="54292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B8B2AD-7C26-4E6E-91B8-D5C574E48B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766"/>
            <a:ext cx="12192000" cy="8382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8AE2ABD-74EB-4C40-A423-2793F742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" y="136524"/>
            <a:ext cx="5355449" cy="60831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42597-091B-49A8-BF65-49B9DFF9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/>
          <a:lstStyle>
            <a:lvl1pPr>
              <a:buFont typeface="Symbol" panose="05050102010706020507" pitchFamily="18" charset="2"/>
              <a:buChar char=""/>
              <a:defRPr>
                <a:solidFill>
                  <a:srgbClr val="81ADB6"/>
                </a:solidFill>
              </a:defRPr>
            </a:lvl1pPr>
            <a:lvl2pPr>
              <a:buFont typeface="Courier New" panose="02070309020205020404" pitchFamily="49" charset="0"/>
              <a:buChar char="o"/>
              <a:defRPr>
                <a:solidFill>
                  <a:srgbClr val="81ADB6"/>
                </a:solidFill>
              </a:defRPr>
            </a:lvl2pPr>
            <a:lvl3pPr>
              <a:buFont typeface="Arial" panose="020B0604020202020204" pitchFamily="34" charset="0"/>
              <a:buChar char="•"/>
              <a:defRPr>
                <a:solidFill>
                  <a:srgbClr val="81ADB6"/>
                </a:solidFill>
              </a:defRPr>
            </a:lvl3pPr>
            <a:lvl4pPr>
              <a:buFont typeface="Symbol" panose="05050102010706020507" pitchFamily="18" charset="2"/>
              <a:buChar char=""/>
              <a:defRPr>
                <a:solidFill>
                  <a:srgbClr val="81ADB6"/>
                </a:solidFill>
              </a:defRPr>
            </a:lvl4pPr>
            <a:lvl5pPr>
              <a:buFont typeface="Symbol" panose="05050102010706020507" pitchFamily="18" charset="2"/>
              <a:buChar char=""/>
              <a:defRPr>
                <a:solidFill>
                  <a:srgbClr val="81ADB6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6F0D96-2FC6-41FE-8F4D-3BD0C895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15AF6-EA85-4630-AD21-146CDDD5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7F81B4-34C2-4D55-8917-1F268458A624}"/>
              </a:ext>
            </a:extLst>
          </p:cNvPr>
          <p:cNvSpPr txBox="1"/>
          <p:nvPr userDrawn="1"/>
        </p:nvSpPr>
        <p:spPr>
          <a:xfrm>
            <a:off x="10148729" y="6430304"/>
            <a:ext cx="2043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bg1"/>
                </a:solidFill>
              </a:rPr>
              <a:t>Programmation Web serveur</a:t>
            </a:r>
          </a:p>
        </p:txBody>
      </p:sp>
    </p:spTree>
    <p:extLst>
      <p:ext uri="{BB962C8B-B14F-4D97-AF65-F5344CB8AC3E}">
        <p14:creationId xmlns:p14="http://schemas.microsoft.com/office/powerpoint/2010/main" val="170084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9C41ED-D25E-48A9-9D4D-76EE7A54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DD61D6-53A8-4C07-9B7E-3EEF53F67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B60A44-AB43-4346-BF82-D4197620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8072AF-F746-4BD8-BFB4-EB618487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E2EC91-5709-49E5-B3AA-21348C12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68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D80AEC-72AB-4628-A1CE-4D0DBAF8E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14F7F1-147D-40E9-A942-5C1BCC021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F54090F-8318-40CE-96BF-92B9122F6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304C0D-B02B-4A5B-B615-25C64C0E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C362B9-A83F-427A-A949-EDA75F61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6007AE-8D2C-41EE-B11B-282A6B227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25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A4AB75-079B-4E6A-89B0-40B4BB017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F77A42-B0CA-4616-A4A8-0348891F8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52495E-1524-467D-AE0C-5ED70A10B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0FF82DA-C09E-4C74-8EC9-011D04AB2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0E6B9ED-4825-43F9-A0E9-44ACD5F23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D12D7D1-008C-4E7F-AF21-891842942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01603A4-DA98-41A6-B8BA-65D60777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860E5F-71C2-473B-8FDC-432C05C69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731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70F612-C882-427E-B401-11016722E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3A8A36E-4663-4796-8210-B2A8B736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661C43D-C62F-402A-90CA-83E3EB75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3339A0-DE02-4727-91EF-3B2F7CCF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0208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4F81E63-9630-443B-BFB6-0247E3D6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BBED5E-68DB-40B2-8D24-23E47B6E8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57F941-B1F9-4F11-90FC-1D3FD5AF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86607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BC09E-16AC-4580-98E9-02418EB0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B98FD4-2116-4EA0-8D87-B3BD714B1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266672-9C75-44FB-87B4-E3F68CA6A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E985F3-C3E6-495C-A993-1096E76D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8F7EB4-97A1-468E-9A2A-D45CCA9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65E4DC-84FA-481E-B5B5-AE5FBCB3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39968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B65F8-C7CE-4E86-9B84-F937626F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BBAD515-97BC-4396-B264-714571E6E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2F7CF64-5CE5-481C-820B-3C30C99A6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671854-DBA6-4F00-BD4C-FB18B8E96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EF3AB8-DD63-44E1-A4D1-A3F0D8CB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66CFB5-D9B4-4ABE-836A-6D70EC29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44989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69598-C04C-41D2-88E4-477DD5335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EB85027-2B50-42AA-9F34-7E59B1723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30932D-562E-4E34-BDFD-D32FFDFA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3B97E7-0FA9-4CD8-BE73-3043EAE7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3DC530-611B-4C7A-9DCE-05A7C259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23877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20621F0-12FA-4B42-9B59-6AD8AB923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8E27AD-BE88-474D-849B-C509C71E8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686500-57F4-4942-93C9-5094AD663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8A004B-00F4-41CD-9412-748A2533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02B891-CB44-4F08-BC43-2F0FDC09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3221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9C0FB0-A966-4F69-9A46-F202225D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21FAC4-AAF6-4C69-A98C-1C2AE7FE9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09277F-787B-42C2-90EA-DDA083330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26193-6046-4F1C-973B-6E9D1040F788}" type="datetimeFigureOut">
              <a:rPr lang="fr-CA" smtClean="0"/>
              <a:t>2025-08-20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0C139A-6638-4528-9476-553ED8CFF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83808F-17DA-45A8-967B-04EFBCAD1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5591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0" r:id="rId3"/>
    <p:sldLayoutId id="2147483650" r:id="rId4"/>
    <p:sldLayoutId id="2147483661" r:id="rId5"/>
    <p:sldLayoutId id="2147483662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hyperlink" Target="https://www.w3schools.com/cssref/pr_class_cursor.asp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w3schools.com/css/css_attribute_selectors.asp" TargetMode="External"/><Relationship Id="rId4" Type="http://schemas.openxmlformats.org/officeDocument/2006/relationships/image" Target="../media/image12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w3schools.com/css/css_attribute_selectors.asp" TargetMode="External"/><Relationship Id="rId4" Type="http://schemas.openxmlformats.org/officeDocument/2006/relationships/image" Target="../media/image12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w3schools.com/css/css_pseudo_elements.asp" TargetMode="External"/><Relationship Id="rId4" Type="http://schemas.openxmlformats.org/officeDocument/2006/relationships/image" Target="../media/image13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BF23FAB3-5CC0-421C-804A-F7CC1252B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225" y="2210305"/>
            <a:ext cx="11511751" cy="1299658"/>
          </a:xfrm>
        </p:spPr>
        <p:txBody>
          <a:bodyPr/>
          <a:lstStyle/>
          <a:p>
            <a:r>
              <a:rPr lang="fr-CA" dirty="0"/>
              <a:t>Modèle en boîtes </a:t>
            </a:r>
            <a:r>
              <a:rPr lang="fr-CA"/>
              <a:t>et positionnement</a:t>
            </a:r>
            <a:endParaRPr lang="fr-CA" dirty="0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4759DE41-5405-413B-9158-D7C5994CA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225" y="3602038"/>
            <a:ext cx="11511751" cy="533957"/>
          </a:xfrm>
        </p:spPr>
        <p:txBody>
          <a:bodyPr/>
          <a:lstStyle/>
          <a:p>
            <a:r>
              <a:rPr lang="fr-CA" dirty="0"/>
              <a:t>Rencontre #3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BA36C74-4658-4018-A83B-4C63AC85C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559" y="5022426"/>
            <a:ext cx="1956881" cy="126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8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918829-131D-4C88-8666-B778F7F98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Menu du jour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09EFAF08-EDCC-4FA5-874F-CEAE44548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>
            <a:normAutofit lnSpcReduction="10000"/>
          </a:bodyPr>
          <a:lstStyle/>
          <a:p>
            <a:r>
              <a:rPr lang="fr-CA" dirty="0"/>
              <a:t>Les boîtes</a:t>
            </a:r>
          </a:p>
          <a:p>
            <a:pPr lvl="1"/>
            <a:r>
              <a:rPr lang="fr-CA" dirty="0"/>
              <a:t>Modèle de boîtes CSS</a:t>
            </a:r>
          </a:p>
          <a:p>
            <a:pPr lvl="1"/>
            <a:r>
              <a:rPr lang="fr-CA" dirty="0"/>
              <a:t>Types </a:t>
            </a:r>
            <a:r>
              <a:rPr lang="fr-CA"/>
              <a:t>de boîtes</a:t>
            </a:r>
          </a:p>
          <a:p>
            <a:r>
              <a:rPr lang="fr-CA">
                <a:solidFill>
                  <a:srgbClr val="8197B6"/>
                </a:solidFill>
              </a:rPr>
              <a:t>Le positionnement</a:t>
            </a:r>
          </a:p>
          <a:p>
            <a:pPr lvl="1"/>
            <a:r>
              <a:rPr lang="fr-CA">
                <a:solidFill>
                  <a:srgbClr val="8197B6"/>
                </a:solidFill>
              </a:rPr>
              <a:t>Static / Relative</a:t>
            </a:r>
          </a:p>
          <a:p>
            <a:pPr lvl="1"/>
            <a:r>
              <a:rPr lang="fr-CA">
                <a:solidFill>
                  <a:srgbClr val="8197B6"/>
                </a:solidFill>
              </a:rPr>
              <a:t>Absolute / Fixed</a:t>
            </a:r>
          </a:p>
          <a:p>
            <a:r>
              <a:rPr lang="fr-CA">
                <a:solidFill>
                  <a:srgbClr val="81ADB6"/>
                </a:solidFill>
              </a:rPr>
              <a:t>Quelques nouvelles règles CSS</a:t>
            </a:r>
          </a:p>
          <a:p>
            <a:pPr lvl="1"/>
            <a:r>
              <a:rPr lang="fr-CA">
                <a:solidFill>
                  <a:srgbClr val="81ADB6"/>
                </a:solidFill>
              </a:rPr>
              <a:t>Interlude sur les pseudo-classes et sélecteurs complexes</a:t>
            </a:r>
          </a:p>
          <a:p>
            <a:pPr lvl="1"/>
            <a:r>
              <a:rPr lang="fr-CA">
                <a:solidFill>
                  <a:srgbClr val="81ADB6"/>
                </a:solidFill>
              </a:rPr>
              <a:t>Quelques nouvelles règles CSS</a:t>
            </a:r>
          </a:p>
          <a:p>
            <a:r>
              <a:rPr lang="fr-CA">
                <a:solidFill>
                  <a:srgbClr val="A785B8"/>
                </a:solidFill>
              </a:rPr>
              <a:t>Priorité en CSS </a:t>
            </a:r>
            <a:r>
              <a:rPr lang="en-CA" sz="2000">
                <a:solidFill>
                  <a:srgbClr val="A785B8"/>
                </a:solidFill>
              </a:rPr>
              <a:t>(╯°□°）╯︵ ┻━┻</a:t>
            </a:r>
          </a:p>
          <a:p>
            <a:pPr lvl="1"/>
            <a:r>
              <a:rPr lang="fr-CA">
                <a:solidFill>
                  <a:srgbClr val="A785B8"/>
                </a:solidFill>
              </a:rPr>
              <a:t>Pseudo-éléments</a:t>
            </a:r>
          </a:p>
          <a:p>
            <a:pPr lvl="1"/>
            <a:r>
              <a:rPr lang="fr-CA">
                <a:solidFill>
                  <a:srgbClr val="A785B8"/>
                </a:solidFill>
              </a:rPr>
              <a:t>Attributs</a:t>
            </a:r>
          </a:p>
          <a:p>
            <a:pPr lvl="1"/>
            <a:endParaRPr lang="fr-CA">
              <a:solidFill>
                <a:srgbClr val="81ADB6"/>
              </a:solidFill>
            </a:endParaRPr>
          </a:p>
          <a:p>
            <a:endParaRPr lang="fr-CA"/>
          </a:p>
          <a:p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AFCA668-50EB-4B31-9109-CF95A4BFE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593" y="945778"/>
            <a:ext cx="1246413" cy="113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60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7F0D-ECA8-4A30-8196-31DE6DCB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Les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55182-6D19-46CF-8B9D-C75ED68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Des boîtes ? Où ça ?</a:t>
            </a:r>
          </a:p>
          <a:p>
            <a:pPr lvl="1"/>
            <a:r>
              <a:rPr lang="fr-CA"/>
              <a:t>En mettant une couleur de fond aux éléments, on voit la « </a:t>
            </a:r>
            <a:r>
              <a:rPr lang="fr-CA" b="1">
                <a:solidFill>
                  <a:srgbClr val="E351E7"/>
                </a:solidFill>
              </a:rPr>
              <a:t>boîte</a:t>
            </a:r>
            <a:r>
              <a:rPr lang="fr-CA"/>
              <a:t> » dans laquelle ils se trouvent.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Notons que la boîte du </a:t>
            </a:r>
            <a:r>
              <a:rPr lang="fr-CA" b="1">
                <a:solidFill>
                  <a:srgbClr val="E351E7"/>
                </a:solidFill>
              </a:rPr>
              <a:t>div</a:t>
            </a:r>
            <a:r>
              <a:rPr lang="fr-CA"/>
              <a:t> est partiellement cachée par le </a:t>
            </a:r>
            <a:r>
              <a:rPr lang="fr-CA" b="1">
                <a:solidFill>
                  <a:srgbClr val="E351E7"/>
                </a:solidFill>
              </a:rPr>
              <a:t>h2</a:t>
            </a:r>
            <a:r>
              <a:rPr lang="fr-CA"/>
              <a:t> et les </a:t>
            </a:r>
            <a:r>
              <a:rPr lang="fr-CA" b="1">
                <a:solidFill>
                  <a:srgbClr val="E351E7"/>
                </a:solidFill>
              </a:rPr>
              <a:t>p</a:t>
            </a:r>
            <a:r>
              <a:rPr lang="fr-CA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6EF4FD3-EE28-469B-9B79-465607C4B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43" y="2866417"/>
            <a:ext cx="6536894" cy="1998371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62BEB15-503B-4987-BDA1-46F8227AB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242" y="2640845"/>
            <a:ext cx="4632155" cy="2471780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</p:spTree>
    <p:extLst>
      <p:ext uri="{BB962C8B-B14F-4D97-AF65-F5344CB8AC3E}">
        <p14:creationId xmlns:p14="http://schemas.microsoft.com/office/powerpoint/2010/main" val="23640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7F0D-ECA8-4A30-8196-31DE6DCB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55182-6D19-46CF-8B9D-C75ED68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Voici le modèle de boîte </a:t>
            </a:r>
            <a:r>
              <a:rPr lang="fr-CA" b="1"/>
              <a:t>CSS</a:t>
            </a:r>
            <a:r>
              <a:rPr lang="fr-CA"/>
              <a:t> :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pPr lvl="1"/>
            <a:r>
              <a:rPr lang="fr-CA" b="1"/>
              <a:t>Margin</a:t>
            </a:r>
            <a:r>
              <a:rPr lang="fr-CA"/>
              <a:t>, </a:t>
            </a:r>
            <a:r>
              <a:rPr lang="fr-CA" b="1"/>
              <a:t>Border</a:t>
            </a:r>
            <a:r>
              <a:rPr lang="fr-CA"/>
              <a:t>, </a:t>
            </a:r>
            <a:r>
              <a:rPr lang="fr-CA" b="1"/>
              <a:t>Padding</a:t>
            </a:r>
            <a:r>
              <a:rPr lang="fr-CA"/>
              <a:t>, </a:t>
            </a:r>
            <a:r>
              <a:rPr lang="fr-CA" b="1"/>
              <a:t>Height</a:t>
            </a:r>
            <a:r>
              <a:rPr lang="fr-CA"/>
              <a:t> et </a:t>
            </a:r>
            <a:r>
              <a:rPr lang="fr-CA" b="1"/>
              <a:t>Width</a:t>
            </a:r>
            <a:r>
              <a:rPr lang="fr-CA"/>
              <a:t> sont des propriétés qui peuvent être manipulées pour toutes* les boîtes.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D7DF43-26D4-44D3-8CD2-5FD9DDC5E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390" y="1638403"/>
            <a:ext cx="5687219" cy="321037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CF25F4F-D30B-4289-B42F-D7B1A8F53509}"/>
              </a:ext>
            </a:extLst>
          </p:cNvPr>
          <p:cNvSpPr txBox="1"/>
          <p:nvPr/>
        </p:nvSpPr>
        <p:spPr>
          <a:xfrm>
            <a:off x="0" y="5992297"/>
            <a:ext cx="441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F7FBB"/>
                </a:solidFill>
              </a:rPr>
              <a:t>*Presque toutes</a:t>
            </a:r>
          </a:p>
        </p:txBody>
      </p:sp>
    </p:spTree>
    <p:extLst>
      <p:ext uri="{BB962C8B-B14F-4D97-AF65-F5344CB8AC3E}">
        <p14:creationId xmlns:p14="http://schemas.microsoft.com/office/powerpoint/2010/main" val="362102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7F0D-ECA8-4A30-8196-31DE6DCB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55182-6D19-46CF-8B9D-C75ED68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Testons toutes ces propriétés !</a:t>
            </a:r>
          </a:p>
          <a:p>
            <a:pPr lvl="1"/>
            <a:r>
              <a:rPr lang="fr-CA"/>
              <a:t>Voici notre </a:t>
            </a:r>
            <a:r>
              <a:rPr lang="fr-CA" b="1"/>
              <a:t>page de base</a:t>
            </a:r>
            <a:r>
              <a:rPr lang="fr-CA"/>
              <a:t>. Les boîtes prennent toute la </a:t>
            </a:r>
            <a:r>
              <a:rPr lang="fr-CA" b="1">
                <a:solidFill>
                  <a:srgbClr val="E351E7"/>
                </a:solidFill>
              </a:rPr>
              <a:t>largeur</a:t>
            </a:r>
            <a:r>
              <a:rPr lang="fr-CA">
                <a:solidFill>
                  <a:srgbClr val="E351E7"/>
                </a:solidFill>
              </a:rPr>
              <a:t> </a:t>
            </a:r>
            <a:r>
              <a:rPr lang="fr-CA"/>
              <a:t>de la page et ne prennent que la </a:t>
            </a:r>
            <a:r>
              <a:rPr lang="fr-CA" b="1">
                <a:solidFill>
                  <a:srgbClr val="E351E7"/>
                </a:solidFill>
              </a:rPr>
              <a:t>hauteur</a:t>
            </a:r>
            <a:r>
              <a:rPr lang="fr-CA"/>
              <a:t> nécessaire pour afficher leur </a:t>
            </a:r>
            <a:r>
              <a:rPr lang="fr-CA" b="1"/>
              <a:t>contenu</a:t>
            </a:r>
            <a:r>
              <a:rPr lang="fr-CA"/>
              <a:t>. (Du texte)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567EC7A-96F9-4DCD-877B-EC11E27B4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906" y="4138705"/>
            <a:ext cx="3825425" cy="2038258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46FFB7B-1C26-4D0C-9E63-A868669B5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190" y="2318293"/>
            <a:ext cx="3286288" cy="1678104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8484987-7E8F-40F4-97E6-C60F74DE4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037" y="3157345"/>
            <a:ext cx="6591871" cy="2149026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</p:spTree>
    <p:extLst>
      <p:ext uri="{BB962C8B-B14F-4D97-AF65-F5344CB8AC3E}">
        <p14:creationId xmlns:p14="http://schemas.microsoft.com/office/powerpoint/2010/main" val="287560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7F0D-ECA8-4A30-8196-31DE6DCB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55182-6D19-46CF-8B9D-C75ED68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b="1">
                <a:solidFill>
                  <a:srgbClr val="7F7FBB"/>
                </a:solidFill>
              </a:rPr>
              <a:t> </a:t>
            </a:r>
            <a:r>
              <a:rPr lang="fr-CA" b="1">
                <a:solidFill>
                  <a:srgbClr val="E351E7"/>
                </a:solidFill>
              </a:rPr>
              <a:t>Width</a:t>
            </a:r>
            <a:r>
              <a:rPr lang="fr-CA"/>
              <a:t> et </a:t>
            </a:r>
            <a:r>
              <a:rPr lang="fr-CA" b="1">
                <a:solidFill>
                  <a:srgbClr val="E351E7"/>
                </a:solidFill>
              </a:rPr>
              <a:t>Height</a:t>
            </a:r>
            <a:r>
              <a:rPr lang="fr-CA"/>
              <a:t> :</a:t>
            </a:r>
          </a:p>
          <a:p>
            <a:pPr lvl="1"/>
            <a:r>
              <a:rPr lang="fr-CA"/>
              <a:t>Peuvent </a:t>
            </a:r>
            <a:r>
              <a:rPr lang="fr-CA" i="1"/>
              <a:t>entre autre </a:t>
            </a:r>
            <a:r>
              <a:rPr lang="fr-CA"/>
              <a:t>être définies en </a:t>
            </a:r>
            <a:r>
              <a:rPr lang="fr-CA" b="1"/>
              <a:t>pourcentage</a:t>
            </a:r>
            <a:r>
              <a:rPr lang="fr-CA"/>
              <a:t> (%) et en </a:t>
            </a:r>
            <a:r>
              <a:rPr lang="fr-CA" b="1"/>
              <a:t>pixels</a:t>
            </a:r>
            <a:r>
              <a:rPr lang="fr-CA"/>
              <a:t>. (px)</a:t>
            </a:r>
          </a:p>
          <a:p>
            <a:pPr lvl="2"/>
            <a:r>
              <a:rPr lang="fr-CA"/>
              <a:t>Si on utilise un pourcentage </a:t>
            </a:r>
            <a:r>
              <a:rPr lang="fr-CA" b="1">
                <a:solidFill>
                  <a:srgbClr val="E351E7"/>
                </a:solidFill>
              </a:rPr>
              <a:t>n</a:t>
            </a:r>
            <a:r>
              <a:rPr lang="fr-CA"/>
              <a:t>, la boîte prendra </a:t>
            </a:r>
            <a:r>
              <a:rPr lang="fr-CA" b="1">
                <a:solidFill>
                  <a:srgbClr val="E351E7"/>
                </a:solidFill>
              </a:rPr>
              <a:t>n%</a:t>
            </a:r>
            <a:r>
              <a:rPr lang="fr-CA"/>
              <a:t> de la largeur de la boîte </a:t>
            </a:r>
            <a:r>
              <a:rPr lang="fr-CA" b="1"/>
              <a:t>parent</a:t>
            </a:r>
            <a:r>
              <a:rPr lang="fr-CA"/>
              <a:t> !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D44802B-A3DD-48BB-9F84-2C1FA55B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19" y="2501199"/>
            <a:ext cx="6718687" cy="3146883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9E206CC-47FC-4FD0-AA39-BB2A3BBFD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79" y="2501199"/>
            <a:ext cx="4610500" cy="3147333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</p:spTree>
    <p:extLst>
      <p:ext uri="{BB962C8B-B14F-4D97-AF65-F5344CB8AC3E}">
        <p14:creationId xmlns:p14="http://schemas.microsoft.com/office/powerpoint/2010/main" val="1599952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7F0D-ECA8-4A30-8196-31DE6DCB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55182-6D19-46CF-8B9D-C75ED68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 b="1">
                <a:solidFill>
                  <a:srgbClr val="E351E7"/>
                </a:solidFill>
              </a:rPr>
              <a:t>Border</a:t>
            </a:r>
            <a:r>
              <a:rPr lang="fr-CA"/>
              <a:t> :</a:t>
            </a:r>
          </a:p>
          <a:p>
            <a:pPr lvl="1"/>
            <a:r>
              <a:rPr lang="fr-CA"/>
              <a:t>On doit préciser … son </a:t>
            </a:r>
            <a:r>
              <a:rPr lang="fr-CA" b="1"/>
              <a:t>style</a:t>
            </a:r>
            <a:r>
              <a:rPr lang="fr-CA"/>
              <a:t>, sa </a:t>
            </a:r>
            <a:r>
              <a:rPr lang="fr-CA" b="1"/>
              <a:t>couleur</a:t>
            </a:r>
            <a:r>
              <a:rPr lang="fr-CA"/>
              <a:t> et sa </a:t>
            </a:r>
            <a:r>
              <a:rPr lang="fr-CA" b="1"/>
              <a:t>largeur</a:t>
            </a:r>
            <a:r>
              <a:rPr lang="fr-CA"/>
              <a:t>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On peut également le faire avec une seule règle </a:t>
            </a:r>
            <a:r>
              <a:rPr lang="fr-CA" b="1"/>
              <a:t>combinée</a:t>
            </a:r>
            <a:r>
              <a:rPr lang="fr-CA"/>
              <a:t>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460AE1-CC82-4823-B27E-73149458D3D5}"/>
              </a:ext>
            </a:extLst>
          </p:cNvPr>
          <p:cNvSpPr txBox="1"/>
          <p:nvPr/>
        </p:nvSpPr>
        <p:spPr>
          <a:xfrm>
            <a:off x="966282" y="1992576"/>
            <a:ext cx="2950722" cy="2677656"/>
          </a:xfrm>
          <a:prstGeom prst="rect">
            <a:avLst/>
          </a:prstGeom>
          <a:noFill/>
          <a:ln w="38100">
            <a:solidFill>
              <a:srgbClr val="7F7FBB"/>
            </a:solidFill>
          </a:ln>
        </p:spPr>
        <p:txBody>
          <a:bodyPr wrap="square" rtlCol="0">
            <a:spAutoFit/>
          </a:bodyPr>
          <a:lstStyle/>
          <a:p>
            <a:r>
              <a:rPr lang="fr-CA" sz="2400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border-style</a:t>
            </a:r>
            <a:r>
              <a:rPr lang="fr-CA" sz="2400">
                <a:solidFill>
                  <a:srgbClr val="7F7FBB"/>
                </a:solidFill>
              </a:rPr>
              <a:t> :</a:t>
            </a:r>
          </a:p>
          <a:p>
            <a:r>
              <a:rPr lang="fr-CA" sz="2400">
                <a:solidFill>
                  <a:srgbClr val="7F7FBB"/>
                </a:solidFill>
              </a:rPr>
              <a:t>• none</a:t>
            </a:r>
          </a:p>
          <a:p>
            <a:r>
              <a:rPr lang="fr-CA" sz="2400">
                <a:solidFill>
                  <a:srgbClr val="7F7FBB"/>
                </a:solidFill>
              </a:rPr>
              <a:t>• dotted</a:t>
            </a:r>
          </a:p>
          <a:p>
            <a:r>
              <a:rPr lang="fr-CA" sz="2400">
                <a:solidFill>
                  <a:srgbClr val="7F7FBB"/>
                </a:solidFill>
              </a:rPr>
              <a:t>• dashed</a:t>
            </a:r>
          </a:p>
          <a:p>
            <a:r>
              <a:rPr lang="fr-CA" sz="2400">
                <a:solidFill>
                  <a:srgbClr val="7F7FBB"/>
                </a:solidFill>
              </a:rPr>
              <a:t>• solid</a:t>
            </a:r>
          </a:p>
          <a:p>
            <a:r>
              <a:rPr lang="fr-CA" sz="2400">
                <a:solidFill>
                  <a:srgbClr val="7F7FBB"/>
                </a:solidFill>
              </a:rPr>
              <a:t>• double</a:t>
            </a:r>
          </a:p>
          <a:p>
            <a:r>
              <a:rPr lang="fr-CA" sz="2400">
                <a:solidFill>
                  <a:srgbClr val="7F7FBB"/>
                </a:solidFill>
              </a:rPr>
              <a:t>• …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3E1236C-A964-495F-A4CF-82DD288F72EF}"/>
              </a:ext>
            </a:extLst>
          </p:cNvPr>
          <p:cNvSpPr txBox="1"/>
          <p:nvPr/>
        </p:nvSpPr>
        <p:spPr>
          <a:xfrm>
            <a:off x="4439056" y="2026650"/>
            <a:ext cx="3453318" cy="1938992"/>
          </a:xfrm>
          <a:prstGeom prst="rect">
            <a:avLst/>
          </a:prstGeom>
          <a:noFill/>
          <a:ln w="38100">
            <a:solidFill>
              <a:srgbClr val="7F7FBB"/>
            </a:solidFill>
          </a:ln>
        </p:spPr>
        <p:txBody>
          <a:bodyPr wrap="square" rtlCol="0">
            <a:spAutoFit/>
          </a:bodyPr>
          <a:lstStyle/>
          <a:p>
            <a:r>
              <a:rPr lang="fr-CA" sz="2400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border-color</a:t>
            </a:r>
            <a:r>
              <a:rPr lang="fr-CA" sz="2400">
                <a:solidFill>
                  <a:srgbClr val="7F7FBB"/>
                </a:solidFill>
              </a:rPr>
              <a:t> :</a:t>
            </a:r>
          </a:p>
          <a:p>
            <a:r>
              <a:rPr lang="fr-CA" sz="2400">
                <a:solidFill>
                  <a:srgbClr val="7F7FBB"/>
                </a:solidFill>
              </a:rPr>
              <a:t>• blue</a:t>
            </a:r>
          </a:p>
          <a:p>
            <a:r>
              <a:rPr lang="fr-CA" sz="2400">
                <a:solidFill>
                  <a:srgbClr val="7F7FBB"/>
                </a:solidFill>
              </a:rPr>
              <a:t>• #54b22a</a:t>
            </a:r>
          </a:p>
          <a:p>
            <a:r>
              <a:rPr lang="fr-CA" sz="2400">
                <a:solidFill>
                  <a:srgbClr val="7F7FBB"/>
                </a:solidFill>
              </a:rPr>
              <a:t>• rgba(4, 142, 331, 0.6)</a:t>
            </a:r>
          </a:p>
          <a:p>
            <a:r>
              <a:rPr lang="fr-CA" sz="2400">
                <a:solidFill>
                  <a:srgbClr val="7F7FBB"/>
                </a:solidFill>
              </a:rPr>
              <a:t>• …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EF4CE7D-7BCF-4E48-BD78-F9BEC09E555D}"/>
              </a:ext>
            </a:extLst>
          </p:cNvPr>
          <p:cNvSpPr txBox="1"/>
          <p:nvPr/>
        </p:nvSpPr>
        <p:spPr>
          <a:xfrm>
            <a:off x="8625192" y="1992576"/>
            <a:ext cx="2728608" cy="2308324"/>
          </a:xfrm>
          <a:prstGeom prst="rect">
            <a:avLst/>
          </a:prstGeom>
          <a:noFill/>
          <a:ln w="38100">
            <a:solidFill>
              <a:srgbClr val="7F7FBB"/>
            </a:solidFill>
          </a:ln>
        </p:spPr>
        <p:txBody>
          <a:bodyPr wrap="square" rtlCol="0">
            <a:spAutoFit/>
          </a:bodyPr>
          <a:lstStyle/>
          <a:p>
            <a:r>
              <a:rPr lang="fr-CA" sz="2400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border-width</a:t>
            </a:r>
            <a:r>
              <a:rPr lang="fr-CA" sz="2400" b="1">
                <a:solidFill>
                  <a:srgbClr val="7F7FBB"/>
                </a:solidFill>
              </a:rPr>
              <a:t> :</a:t>
            </a:r>
          </a:p>
          <a:p>
            <a:r>
              <a:rPr lang="fr-CA" sz="2400">
                <a:solidFill>
                  <a:srgbClr val="7F7FBB"/>
                </a:solidFill>
              </a:rPr>
              <a:t>• 5px</a:t>
            </a:r>
          </a:p>
          <a:p>
            <a:r>
              <a:rPr lang="fr-CA" sz="2400">
                <a:solidFill>
                  <a:srgbClr val="7F7FBB"/>
                </a:solidFill>
              </a:rPr>
              <a:t>• 1em</a:t>
            </a:r>
          </a:p>
          <a:p>
            <a:r>
              <a:rPr lang="fr-CA" sz="2400">
                <a:solidFill>
                  <a:srgbClr val="7F7FBB"/>
                </a:solidFill>
              </a:rPr>
              <a:t>• thick</a:t>
            </a:r>
          </a:p>
          <a:p>
            <a:r>
              <a:rPr lang="fr-CA" sz="2400">
                <a:solidFill>
                  <a:srgbClr val="7F7FBB"/>
                </a:solidFill>
              </a:rPr>
              <a:t>• thin</a:t>
            </a:r>
          </a:p>
          <a:p>
            <a:r>
              <a:rPr lang="fr-CA" sz="2400">
                <a:solidFill>
                  <a:srgbClr val="7F7FBB"/>
                </a:solidFill>
              </a:rPr>
              <a:t>• …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8983D26-BCC3-4E6E-8D7A-096CEE4804A0}"/>
              </a:ext>
            </a:extLst>
          </p:cNvPr>
          <p:cNvSpPr txBox="1"/>
          <p:nvPr/>
        </p:nvSpPr>
        <p:spPr>
          <a:xfrm>
            <a:off x="4124527" y="5643877"/>
            <a:ext cx="3592749" cy="369332"/>
          </a:xfrm>
          <a:prstGeom prst="rect">
            <a:avLst/>
          </a:prstGeom>
          <a:noFill/>
          <a:ln w="38100">
            <a:solidFill>
              <a:srgbClr val="7F7FBB"/>
            </a:solidFill>
          </a:ln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</a:t>
            </a:r>
            <a:r>
              <a:rPr lang="fr-CA" b="1">
                <a:solidFill>
                  <a:srgbClr val="7F7F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solid blue 5px; </a:t>
            </a:r>
            <a:endParaRPr lang="fr-CA">
              <a:solidFill>
                <a:srgbClr val="7F7FB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024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7F0D-ECA8-4A30-8196-31DE6DCB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55182-6D19-46CF-8B9D-C75ED68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 b="1">
                <a:solidFill>
                  <a:srgbClr val="E351E7"/>
                </a:solidFill>
              </a:rPr>
              <a:t>Border</a:t>
            </a:r>
            <a:r>
              <a:rPr lang="fr-CA"/>
              <a:t> : </a:t>
            </a:r>
          </a:p>
          <a:p>
            <a:pPr lvl="1"/>
            <a:r>
              <a:rPr lang="fr-CA"/>
              <a:t>On remarque qu’il ne reste plus d’espace entre les deux boîtes …</a:t>
            </a:r>
          </a:p>
          <a:p>
            <a:pPr lvl="1"/>
            <a:endParaRPr lang="fr-CA"/>
          </a:p>
          <a:p>
            <a:pPr lvl="1"/>
            <a:endParaRPr lang="fr-CA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92E32F8-A2D8-45A2-B2BF-C31B12CC8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254" y="1975849"/>
            <a:ext cx="6522699" cy="3333344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61C3339-3E84-4727-8BCE-BE8B13D63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65" y="1975849"/>
            <a:ext cx="4097479" cy="3267358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</p:spTree>
    <p:extLst>
      <p:ext uri="{BB962C8B-B14F-4D97-AF65-F5344CB8AC3E}">
        <p14:creationId xmlns:p14="http://schemas.microsoft.com/office/powerpoint/2010/main" val="314196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7F0D-ECA8-4A30-8196-31DE6DCB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55182-6D19-46CF-8B9D-C75ED68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 b="1">
                <a:solidFill>
                  <a:srgbClr val="E351E7"/>
                </a:solidFill>
              </a:rPr>
              <a:t>Border</a:t>
            </a:r>
            <a:r>
              <a:rPr lang="fr-CA"/>
              <a:t> : </a:t>
            </a:r>
          </a:p>
          <a:p>
            <a:pPr lvl="1"/>
            <a:r>
              <a:rPr lang="fr-CA"/>
              <a:t>On peut préciser les </a:t>
            </a:r>
            <a:r>
              <a:rPr lang="fr-CA" b="1"/>
              <a:t>styles</a:t>
            </a:r>
            <a:r>
              <a:rPr lang="fr-CA"/>
              <a:t> / </a:t>
            </a:r>
            <a:r>
              <a:rPr lang="fr-CA" b="1"/>
              <a:t>couleurs</a:t>
            </a:r>
            <a:r>
              <a:rPr lang="fr-CA"/>
              <a:t> / </a:t>
            </a:r>
            <a:r>
              <a:rPr lang="fr-CA" b="1"/>
              <a:t>largeurs</a:t>
            </a:r>
            <a:r>
              <a:rPr lang="fr-CA"/>
              <a:t> de bordure pour chacun des 4 côtés !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On peut préciser les </a:t>
            </a:r>
            <a:r>
              <a:rPr lang="fr-CA" b="1"/>
              <a:t>styles</a:t>
            </a:r>
            <a:r>
              <a:rPr lang="fr-CA"/>
              <a:t> / </a:t>
            </a:r>
            <a:r>
              <a:rPr lang="fr-CA" b="1"/>
              <a:t>couleurs</a:t>
            </a:r>
            <a:r>
              <a:rPr lang="fr-CA"/>
              <a:t> / </a:t>
            </a:r>
            <a:r>
              <a:rPr lang="fr-CA" b="1"/>
              <a:t>largeurs</a:t>
            </a:r>
            <a:r>
              <a:rPr lang="fr-CA"/>
              <a:t> des 4 côtés en même temps : </a:t>
            </a:r>
          </a:p>
          <a:p>
            <a:pPr lvl="1"/>
            <a:endParaRPr lang="fr-CA"/>
          </a:p>
          <a:p>
            <a:pPr lvl="1"/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18525A4-5929-4AD3-AEDB-0428265EF50F}"/>
              </a:ext>
            </a:extLst>
          </p:cNvPr>
          <p:cNvSpPr txBox="1"/>
          <p:nvPr/>
        </p:nvSpPr>
        <p:spPr>
          <a:xfrm>
            <a:off x="350196" y="2398044"/>
            <a:ext cx="4539574" cy="1200329"/>
          </a:xfrm>
          <a:prstGeom prst="rect">
            <a:avLst/>
          </a:prstGeom>
          <a:noFill/>
          <a:ln w="38100">
            <a:solidFill>
              <a:srgbClr val="7F7FBB"/>
            </a:solidFill>
          </a:ln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border-top-style </a:t>
            </a:r>
            <a:r>
              <a:rPr lang="fr-CA" b="1">
                <a:solidFill>
                  <a:srgbClr val="7F7F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solid;</a:t>
            </a:r>
          </a:p>
          <a:p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border-bottom-style </a:t>
            </a:r>
            <a:r>
              <a:rPr lang="fr-CA" b="1">
                <a:solidFill>
                  <a:srgbClr val="7F7F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dotted;</a:t>
            </a:r>
          </a:p>
          <a:p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border-left-style </a:t>
            </a:r>
            <a:r>
              <a:rPr lang="fr-CA" b="1">
                <a:solidFill>
                  <a:srgbClr val="7F7F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solid;</a:t>
            </a:r>
          </a:p>
          <a:p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border-right-style </a:t>
            </a:r>
            <a:r>
              <a:rPr lang="fr-CA" b="1">
                <a:solidFill>
                  <a:srgbClr val="7F7F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dashed;</a:t>
            </a:r>
            <a:endParaRPr lang="fr-CA">
              <a:solidFill>
                <a:srgbClr val="7F7FB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56B4F0C-9600-41EC-9AA5-8E301C6459DF}"/>
              </a:ext>
            </a:extLst>
          </p:cNvPr>
          <p:cNvSpPr txBox="1"/>
          <p:nvPr/>
        </p:nvSpPr>
        <p:spPr>
          <a:xfrm>
            <a:off x="350195" y="5130000"/>
            <a:ext cx="4539575" cy="369332"/>
          </a:xfrm>
          <a:prstGeom prst="rect">
            <a:avLst/>
          </a:prstGeom>
          <a:noFill/>
          <a:ln w="38100">
            <a:solidFill>
              <a:srgbClr val="7F7FBB"/>
            </a:solidFill>
          </a:ln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border-width</a:t>
            </a:r>
            <a:r>
              <a:rPr lang="fr-CA" b="1">
                <a:solidFill>
                  <a:srgbClr val="7F7F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:10px 5px 2px 20px;</a:t>
            </a:r>
            <a:endParaRPr lang="fr-CA">
              <a:solidFill>
                <a:srgbClr val="7F7FBB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385F245-438C-459A-9B60-F5EFFB8551E1}"/>
              </a:ext>
            </a:extLst>
          </p:cNvPr>
          <p:cNvSpPr txBox="1"/>
          <p:nvPr/>
        </p:nvSpPr>
        <p:spPr>
          <a:xfrm>
            <a:off x="350195" y="3806038"/>
            <a:ext cx="4539575" cy="646331"/>
          </a:xfrm>
          <a:prstGeom prst="rect">
            <a:avLst/>
          </a:prstGeom>
          <a:noFill/>
          <a:ln w="38100">
            <a:solidFill>
              <a:srgbClr val="7F7FBB"/>
            </a:solidFill>
          </a:ln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border-color </a:t>
            </a:r>
            <a:r>
              <a:rPr lang="fr-CA" b="1">
                <a:solidFill>
                  <a:srgbClr val="7F7F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blue;</a:t>
            </a:r>
          </a:p>
          <a:p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border-top-color </a:t>
            </a:r>
            <a:r>
              <a:rPr lang="fr-CA" b="1">
                <a:solidFill>
                  <a:srgbClr val="7F7F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red;</a:t>
            </a:r>
            <a:endParaRPr lang="fr-CA">
              <a:solidFill>
                <a:srgbClr val="7F7FBB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CF92915-13AC-45F9-A424-99D1C95A2CFC}"/>
              </a:ext>
            </a:extLst>
          </p:cNvPr>
          <p:cNvSpPr txBox="1"/>
          <p:nvPr/>
        </p:nvSpPr>
        <p:spPr>
          <a:xfrm>
            <a:off x="0" y="5992297"/>
            <a:ext cx="441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7F7FBB"/>
                </a:solidFill>
              </a:rPr>
              <a:t>L’ordre est </a:t>
            </a:r>
            <a:r>
              <a:rPr lang="fr-CA">
                <a:solidFill>
                  <a:srgbClr val="7F7FBB"/>
                </a:solidFill>
              </a:rPr>
              <a:t>: Haut Droite Bas Gauche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E156841B-BE93-4D32-B71C-96E448186EDF}"/>
              </a:ext>
            </a:extLst>
          </p:cNvPr>
          <p:cNvCxnSpPr>
            <a:cxnSpLocks/>
          </p:cNvCxnSpPr>
          <p:nvPr/>
        </p:nvCxnSpPr>
        <p:spPr>
          <a:xfrm flipV="1">
            <a:off x="1848255" y="5583678"/>
            <a:ext cx="648511" cy="408619"/>
          </a:xfrm>
          <a:prstGeom prst="straightConnector1">
            <a:avLst/>
          </a:prstGeom>
          <a:ln w="38100">
            <a:solidFill>
              <a:srgbClr val="7F7FB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5B57226A-0D8C-4BAA-BF36-D4D91CB85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172" y="2482423"/>
            <a:ext cx="3993226" cy="173751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E15E7BC-7AB5-4185-B3DA-CAEBC04C8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774" y="4918513"/>
            <a:ext cx="3036022" cy="133033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33A5253-6F4D-46E4-9247-D44E7071D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6821" y="5992297"/>
            <a:ext cx="440055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579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7F0D-ECA8-4A30-8196-31DE6DCB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55182-6D19-46CF-8B9D-C75ED68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b="1">
                <a:solidFill>
                  <a:srgbClr val="7F7FBB"/>
                </a:solidFill>
              </a:rPr>
              <a:t> </a:t>
            </a:r>
            <a:r>
              <a:rPr lang="fr-CA" b="1">
                <a:solidFill>
                  <a:srgbClr val="E351E7"/>
                </a:solidFill>
              </a:rPr>
              <a:t>Margin</a:t>
            </a:r>
            <a:r>
              <a:rPr lang="fr-CA"/>
              <a:t> :</a:t>
            </a:r>
          </a:p>
          <a:p>
            <a:pPr lvl="1"/>
            <a:r>
              <a:rPr lang="fr-CA"/>
              <a:t>Permet de créer des </a:t>
            </a:r>
            <a:r>
              <a:rPr lang="fr-CA" b="1"/>
              <a:t>marges externes </a:t>
            </a:r>
            <a:r>
              <a:rPr lang="fr-CA"/>
              <a:t>au-delà des bordures :</a:t>
            </a:r>
          </a:p>
          <a:p>
            <a:pPr lvl="1"/>
            <a:r>
              <a:rPr lang="fr-CA"/>
              <a:t>La largeur peut être en </a:t>
            </a:r>
            <a:r>
              <a:rPr lang="fr-CA" b="1"/>
              <a:t>pixels</a:t>
            </a:r>
            <a:r>
              <a:rPr lang="fr-CA"/>
              <a:t>, </a:t>
            </a:r>
            <a:r>
              <a:rPr lang="fr-CA" b="1"/>
              <a:t>em</a:t>
            </a:r>
            <a:r>
              <a:rPr lang="fr-CA"/>
              <a:t>, etc.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D9D4E2F-3068-49E0-A464-6E7C5744E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31" y="2412357"/>
            <a:ext cx="4496190" cy="3764606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6FE4254-A2BC-4BF9-A845-B7830DBD4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422" y="2412357"/>
            <a:ext cx="4175647" cy="3764606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8D8A569-EE4A-485F-9C87-F8186C7CE3E9}"/>
              </a:ext>
            </a:extLst>
          </p:cNvPr>
          <p:cNvSpPr txBox="1"/>
          <p:nvPr/>
        </p:nvSpPr>
        <p:spPr>
          <a:xfrm>
            <a:off x="4984399" y="2412356"/>
            <a:ext cx="25512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F7FBB"/>
                </a:solidFill>
              </a:rPr>
              <a:t>• La distance entre les boîtes est de </a:t>
            </a:r>
            <a:r>
              <a:rPr lang="fr-CA" b="1">
                <a:solidFill>
                  <a:srgbClr val="7F7FBB"/>
                </a:solidFill>
              </a:rPr>
              <a:t>40</a:t>
            </a:r>
            <a:r>
              <a:rPr lang="fr-CA">
                <a:solidFill>
                  <a:srgbClr val="7F7FBB"/>
                </a:solidFill>
              </a:rPr>
              <a:t> pixels. C’est-à-dire </a:t>
            </a:r>
            <a:r>
              <a:rPr lang="fr-CA" b="1">
                <a:solidFill>
                  <a:srgbClr val="7F7FBB"/>
                </a:solidFill>
              </a:rPr>
              <a:t>10</a:t>
            </a:r>
            <a:r>
              <a:rPr lang="fr-CA">
                <a:solidFill>
                  <a:srgbClr val="7F7FBB"/>
                </a:solidFill>
              </a:rPr>
              <a:t> + </a:t>
            </a:r>
            <a:r>
              <a:rPr lang="fr-CA" b="1">
                <a:solidFill>
                  <a:srgbClr val="7F7FBB"/>
                </a:solidFill>
              </a:rPr>
              <a:t>30</a:t>
            </a:r>
            <a:r>
              <a:rPr lang="fr-CA">
                <a:solidFill>
                  <a:srgbClr val="7F7FBB"/>
                </a:solidFill>
              </a:rPr>
              <a:t> en raison des marges des 2 boîtes.</a:t>
            </a:r>
          </a:p>
          <a:p>
            <a:endParaRPr lang="fr-CA">
              <a:solidFill>
                <a:srgbClr val="7F7FBB"/>
              </a:solidFill>
            </a:endParaRPr>
          </a:p>
          <a:p>
            <a:r>
              <a:rPr lang="fr-CA">
                <a:solidFill>
                  <a:srgbClr val="7F7FBB"/>
                </a:solidFill>
              </a:rPr>
              <a:t>• La première boîte a des marges de tous les côtés, alors que la deuxième n’en a qu’une au-dessus.</a:t>
            </a:r>
          </a:p>
        </p:txBody>
      </p:sp>
    </p:spTree>
    <p:extLst>
      <p:ext uri="{BB962C8B-B14F-4D97-AF65-F5344CB8AC3E}">
        <p14:creationId xmlns:p14="http://schemas.microsoft.com/office/powerpoint/2010/main" val="2253137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7F0D-ECA8-4A30-8196-31DE6DCB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55182-6D19-46CF-8B9D-C75ED68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b="1">
                <a:solidFill>
                  <a:srgbClr val="7F7FBB"/>
                </a:solidFill>
              </a:rPr>
              <a:t> </a:t>
            </a:r>
            <a:r>
              <a:rPr lang="fr-CA" b="1">
                <a:solidFill>
                  <a:srgbClr val="E351E7"/>
                </a:solidFill>
              </a:rPr>
              <a:t>Margin</a:t>
            </a:r>
            <a:r>
              <a:rPr lang="fr-CA"/>
              <a:t> :</a:t>
            </a:r>
          </a:p>
          <a:p>
            <a:pPr lvl="1"/>
            <a:r>
              <a:rPr lang="fr-CA"/>
              <a:t>Permet de créer des </a:t>
            </a:r>
            <a:r>
              <a:rPr lang="fr-CA" b="1"/>
              <a:t>marges externes </a:t>
            </a:r>
            <a:r>
              <a:rPr lang="fr-CA"/>
              <a:t>au-delà des bordures :</a:t>
            </a:r>
          </a:p>
          <a:p>
            <a:pPr lvl="1"/>
            <a:r>
              <a:rPr lang="fr-CA"/>
              <a:t>Encore une fois, on peut préciser la largeur de chaque côté :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Qui est l’équivalent de …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0820CDD-D99D-4F4A-A22A-E07BEA8AD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94" y="2376897"/>
            <a:ext cx="2651990" cy="1325995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333325E-B239-4EDC-872F-E1777B736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094" y="4311223"/>
            <a:ext cx="3680779" cy="419136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0D40010-DD6A-430D-8248-D7D5542C6764}"/>
              </a:ext>
            </a:extLst>
          </p:cNvPr>
          <p:cNvSpPr txBox="1"/>
          <p:nvPr/>
        </p:nvSpPr>
        <p:spPr>
          <a:xfrm>
            <a:off x="28005" y="5272451"/>
            <a:ext cx="441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7F7FBB"/>
                </a:solidFill>
              </a:rPr>
              <a:t>L’ordre est </a:t>
            </a:r>
            <a:r>
              <a:rPr lang="fr-CA">
                <a:solidFill>
                  <a:srgbClr val="7F7FBB"/>
                </a:solidFill>
              </a:rPr>
              <a:t>: Haut Droite Bas Gauche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3C0CB7FC-C521-4965-8C80-067F03E35E40}"/>
              </a:ext>
            </a:extLst>
          </p:cNvPr>
          <p:cNvCxnSpPr>
            <a:cxnSpLocks/>
          </p:cNvCxnSpPr>
          <p:nvPr/>
        </p:nvCxnSpPr>
        <p:spPr>
          <a:xfrm flipV="1">
            <a:off x="1876260" y="4863832"/>
            <a:ext cx="648511" cy="408619"/>
          </a:xfrm>
          <a:prstGeom prst="straightConnector1">
            <a:avLst/>
          </a:prstGeom>
          <a:ln w="38100">
            <a:solidFill>
              <a:srgbClr val="7F7FB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>
            <a:extLst>
              <a:ext uri="{FF2B5EF4-FFF2-40B4-BE49-F238E27FC236}">
                <a16:creationId xmlns:a16="http://schemas.microsoft.com/office/drawing/2014/main" id="{F30B0B56-74E7-4FC9-8ECD-0758175B8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826" y="5272451"/>
            <a:ext cx="440055" cy="36933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526283D-BE30-4BEC-A8A7-F4B60891E1B4}"/>
              </a:ext>
            </a:extLst>
          </p:cNvPr>
          <p:cNvSpPr txBox="1"/>
          <p:nvPr/>
        </p:nvSpPr>
        <p:spPr>
          <a:xfrm>
            <a:off x="6159674" y="3805454"/>
            <a:ext cx="5526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CA" sz="2400">
                <a:solidFill>
                  <a:srgbClr val="7F7FBB"/>
                </a:solidFill>
              </a:rPr>
              <a:t>On peut choisir une marge identique pour les 4 côtés :</a:t>
            </a:r>
          </a:p>
        </p:txBody>
      </p:sp>
    </p:spTree>
    <p:extLst>
      <p:ext uri="{BB962C8B-B14F-4D97-AF65-F5344CB8AC3E}">
        <p14:creationId xmlns:p14="http://schemas.microsoft.com/office/powerpoint/2010/main" val="116372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0161AC-9422-4E7B-86AB-A9E14BE03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7F0C1D-29E1-4349-B996-ABFA77048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 b="1">
                <a:solidFill>
                  <a:srgbClr val="E351E7"/>
                </a:solidFill>
              </a:rPr>
              <a:t>Padding</a:t>
            </a:r>
            <a:r>
              <a:rPr lang="fr-CA"/>
              <a:t> :</a:t>
            </a:r>
          </a:p>
          <a:p>
            <a:pPr lvl="1"/>
            <a:r>
              <a:rPr lang="fr-CA"/>
              <a:t>Permet de créer des </a:t>
            </a:r>
            <a:r>
              <a:rPr lang="fr-CA" b="1"/>
              <a:t>marges internes</a:t>
            </a:r>
            <a:r>
              <a:rPr lang="fr-CA"/>
              <a:t> pour espacer le </a:t>
            </a:r>
            <a:r>
              <a:rPr lang="fr-CA" b="1"/>
              <a:t>contenu</a:t>
            </a:r>
            <a:r>
              <a:rPr lang="fr-CA"/>
              <a:t> des </a:t>
            </a:r>
            <a:r>
              <a:rPr lang="fr-CA" b="1"/>
              <a:t>bordures</a:t>
            </a:r>
            <a:r>
              <a:rPr lang="fr-CA"/>
              <a:t>.</a:t>
            </a:r>
          </a:p>
          <a:p>
            <a:pPr lvl="1"/>
            <a:r>
              <a:rPr lang="fr-CA"/>
              <a:t>La largeur peut être en pixels, em, etc.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418B3C3-8BFC-408B-B1D3-881A9615A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50" y="2607012"/>
            <a:ext cx="3995902" cy="3391711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B5E18AD-8156-4B60-BA0E-A6197D595503}"/>
              </a:ext>
            </a:extLst>
          </p:cNvPr>
          <p:cNvSpPr txBox="1"/>
          <p:nvPr/>
        </p:nvSpPr>
        <p:spPr>
          <a:xfrm>
            <a:off x="4738139" y="2496663"/>
            <a:ext cx="255129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F7FBB"/>
                </a:solidFill>
              </a:rPr>
              <a:t>• Dans la première boîte, on a un padding de 30 pixels de </a:t>
            </a:r>
            <a:r>
              <a:rPr lang="fr-CA" b="1">
                <a:solidFill>
                  <a:srgbClr val="7F7FBB"/>
                </a:solidFill>
              </a:rPr>
              <a:t>chaque côté</a:t>
            </a:r>
            <a:r>
              <a:rPr lang="fr-CA">
                <a:solidFill>
                  <a:srgbClr val="7F7FBB"/>
                </a:solidFill>
              </a:rPr>
              <a:t>.</a:t>
            </a:r>
          </a:p>
          <a:p>
            <a:r>
              <a:rPr lang="fr-CA">
                <a:solidFill>
                  <a:srgbClr val="7F7FBB"/>
                </a:solidFill>
              </a:rPr>
              <a:t>• Dans la deuxième boîte, on a 30 pixels en </a:t>
            </a:r>
            <a:r>
              <a:rPr lang="fr-CA" b="1">
                <a:solidFill>
                  <a:srgbClr val="7F7FBB"/>
                </a:solidFill>
              </a:rPr>
              <a:t>haut</a:t>
            </a:r>
            <a:r>
              <a:rPr lang="fr-CA">
                <a:solidFill>
                  <a:srgbClr val="7F7FBB"/>
                </a:solidFill>
              </a:rPr>
              <a:t>, 0 à </a:t>
            </a:r>
            <a:r>
              <a:rPr lang="fr-CA" b="1">
                <a:solidFill>
                  <a:srgbClr val="7F7FBB"/>
                </a:solidFill>
              </a:rPr>
              <a:t>gauche</a:t>
            </a:r>
            <a:r>
              <a:rPr lang="fr-CA">
                <a:solidFill>
                  <a:srgbClr val="7F7FBB"/>
                </a:solidFill>
              </a:rPr>
              <a:t> et à </a:t>
            </a:r>
            <a:r>
              <a:rPr lang="fr-CA" b="1">
                <a:solidFill>
                  <a:srgbClr val="7F7FBB"/>
                </a:solidFill>
              </a:rPr>
              <a:t>droite</a:t>
            </a:r>
            <a:r>
              <a:rPr lang="fr-CA">
                <a:solidFill>
                  <a:srgbClr val="7F7FBB"/>
                </a:solidFill>
              </a:rPr>
              <a:t>, 10 pixels en </a:t>
            </a:r>
            <a:r>
              <a:rPr lang="fr-CA" b="1">
                <a:solidFill>
                  <a:srgbClr val="7F7FBB"/>
                </a:solidFill>
              </a:rPr>
              <a:t>bas</a:t>
            </a:r>
            <a:r>
              <a:rPr lang="fr-CA">
                <a:solidFill>
                  <a:srgbClr val="7F7FBB"/>
                </a:solidFill>
              </a:rPr>
              <a:t>.</a:t>
            </a:r>
          </a:p>
          <a:p>
            <a:r>
              <a:rPr lang="fr-CA">
                <a:solidFill>
                  <a:srgbClr val="7F7FBB"/>
                </a:solidFill>
              </a:rPr>
              <a:t>• Les règles </a:t>
            </a:r>
            <a:r>
              <a:rPr lang="fr-CA">
                <a:solidFill>
                  <a:srgbClr val="E351E7"/>
                </a:solidFill>
              </a:rPr>
              <a:t>padding-top</a:t>
            </a:r>
            <a:r>
              <a:rPr lang="fr-CA">
                <a:solidFill>
                  <a:srgbClr val="7F7FBB"/>
                </a:solidFill>
              </a:rPr>
              <a:t>,</a:t>
            </a:r>
          </a:p>
          <a:p>
            <a:r>
              <a:rPr lang="fr-CA">
                <a:solidFill>
                  <a:srgbClr val="E351E7"/>
                </a:solidFill>
              </a:rPr>
              <a:t>padding-left</a:t>
            </a:r>
            <a:r>
              <a:rPr lang="fr-CA">
                <a:solidFill>
                  <a:srgbClr val="7F7FBB"/>
                </a:solidFill>
              </a:rPr>
              <a:t>, </a:t>
            </a:r>
            <a:r>
              <a:rPr lang="fr-CA">
                <a:solidFill>
                  <a:srgbClr val="E351E7"/>
                </a:solidFill>
              </a:rPr>
              <a:t>padding-right</a:t>
            </a:r>
            <a:r>
              <a:rPr lang="fr-CA">
                <a:solidFill>
                  <a:srgbClr val="7F7FBB"/>
                </a:solidFill>
              </a:rPr>
              <a:t> et </a:t>
            </a:r>
            <a:r>
              <a:rPr lang="fr-CA">
                <a:solidFill>
                  <a:srgbClr val="E351E7"/>
                </a:solidFill>
              </a:rPr>
              <a:t>padding-bottom</a:t>
            </a:r>
            <a:r>
              <a:rPr lang="fr-CA">
                <a:solidFill>
                  <a:srgbClr val="7F7FBB"/>
                </a:solidFill>
              </a:rPr>
              <a:t> existent également.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A652A7B-8741-44BE-989C-15F28B65C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434" y="2152375"/>
            <a:ext cx="4550737" cy="3852730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D5D51887-F64E-4069-925A-F433C8FA5718}"/>
              </a:ext>
            </a:extLst>
          </p:cNvPr>
          <p:cNvSpPr txBox="1"/>
          <p:nvPr/>
        </p:nvSpPr>
        <p:spPr>
          <a:xfrm>
            <a:off x="171095" y="6034028"/>
            <a:ext cx="441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7F7FBB"/>
                </a:solidFill>
              </a:rPr>
              <a:t>L’ordre est </a:t>
            </a:r>
            <a:r>
              <a:rPr lang="fr-CA">
                <a:solidFill>
                  <a:srgbClr val="7F7FBB"/>
                </a:solidFill>
              </a:rPr>
              <a:t>: Haut Droite Bas Gauche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75D27A2-3DCB-4535-B952-A0C7E2489304}"/>
              </a:ext>
            </a:extLst>
          </p:cNvPr>
          <p:cNvCxnSpPr>
            <a:cxnSpLocks/>
          </p:cNvCxnSpPr>
          <p:nvPr/>
        </p:nvCxnSpPr>
        <p:spPr>
          <a:xfrm flipV="1">
            <a:off x="1791028" y="5727760"/>
            <a:ext cx="259405" cy="384162"/>
          </a:xfrm>
          <a:prstGeom prst="straightConnector1">
            <a:avLst/>
          </a:prstGeom>
          <a:ln w="38100">
            <a:solidFill>
              <a:srgbClr val="7F7FB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>
            <a:extLst>
              <a:ext uri="{FF2B5EF4-FFF2-40B4-BE49-F238E27FC236}">
                <a16:creationId xmlns:a16="http://schemas.microsoft.com/office/drawing/2014/main" id="{9F341090-C772-4FAA-8611-04D79F186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367" y="6036542"/>
            <a:ext cx="382826" cy="32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33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7F0D-ECA8-4A30-8196-31DE6DCB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55182-6D19-46CF-8B9D-C75ED68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/>
              <a:t>Voici le modèle de boîte </a:t>
            </a:r>
            <a:r>
              <a:rPr lang="fr-CA" b="1"/>
              <a:t>CSS</a:t>
            </a:r>
            <a:r>
              <a:rPr lang="fr-CA"/>
              <a:t> :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pPr lvl="1"/>
            <a:endParaRPr lang="fr-CA" b="1"/>
          </a:p>
          <a:p>
            <a:pPr lvl="1"/>
            <a:r>
              <a:rPr lang="fr-CA" b="1"/>
              <a:t>Attention ! </a:t>
            </a:r>
            <a:r>
              <a:rPr lang="fr-CA"/>
              <a:t>La largeur totale </a:t>
            </a:r>
            <a:r>
              <a:rPr lang="fr-CA" b="1"/>
              <a:t>occupée</a:t>
            </a:r>
            <a:r>
              <a:rPr lang="fr-CA"/>
              <a:t> par une boîte correspond à …</a:t>
            </a:r>
          </a:p>
          <a:p>
            <a:pPr marL="457200" lvl="1" indent="0">
              <a:buNone/>
            </a:pPr>
            <a:r>
              <a:rPr lang="fr-CA" sz="1800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 + padding-left + padding-right + border-left + border-right + margin-left + margin-right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D7DF43-26D4-44D3-8CD2-5FD9DDC5E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390" y="1638403"/>
            <a:ext cx="5687219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5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1229BA-8C31-467E-B873-9196697C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B292A-9E4A-43A2-B97A-F6DAC0C39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Quelle est la </a:t>
            </a:r>
            <a:r>
              <a:rPr lang="fr-CA" b="1"/>
              <a:t>hauteur</a:t>
            </a:r>
            <a:r>
              <a:rPr lang="fr-CA"/>
              <a:t> occupée par la boîte ?! (Aucun </a:t>
            </a:r>
            <a:r>
              <a:rPr lang="fr-CA" b="1"/>
              <a:t>margin</a:t>
            </a:r>
            <a:r>
              <a:rPr lang="fr-CA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BB144A-BB74-4C17-A2B4-916F84822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42" y="2175401"/>
            <a:ext cx="4801016" cy="2507197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F7E2034-17E4-4B82-BDFA-3E4A2CD6F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666" y="1971934"/>
            <a:ext cx="4619903" cy="286490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BF64BF5-C781-4182-A9A0-59128522B597}"/>
              </a:ext>
            </a:extLst>
          </p:cNvPr>
          <p:cNvSpPr txBox="1"/>
          <p:nvPr/>
        </p:nvSpPr>
        <p:spPr>
          <a:xfrm>
            <a:off x="0" y="5992297"/>
            <a:ext cx="441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7F7FBB"/>
                </a:solidFill>
              </a:rPr>
              <a:t>L’ordre est </a:t>
            </a:r>
            <a:r>
              <a:rPr lang="fr-CA">
                <a:solidFill>
                  <a:srgbClr val="7F7FBB"/>
                </a:solidFill>
              </a:rPr>
              <a:t>: Haut Droite Bas Gauche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A907DBD-95E7-46BF-B3F5-6C428143F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120" y="5992297"/>
            <a:ext cx="440055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63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1229BA-8C31-467E-B873-9196697C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Modèle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B292A-9E4A-43A2-B97A-F6DAC0C39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Quelle est la </a:t>
            </a:r>
            <a:r>
              <a:rPr lang="fr-CA" b="1"/>
              <a:t>hauteur</a:t>
            </a:r>
            <a:r>
              <a:rPr lang="fr-CA"/>
              <a:t> occupée par la boîte ?! (Aucun </a:t>
            </a:r>
            <a:r>
              <a:rPr lang="fr-CA" b="1"/>
              <a:t>margin</a:t>
            </a:r>
            <a:r>
              <a:rPr lang="fr-CA"/>
              <a:t>)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pPr marL="0" indent="0">
              <a:buNone/>
            </a:pPr>
            <a:r>
              <a:rPr lang="fr-CA">
                <a:latin typeface="Courier New" panose="02070309020205020404" pitchFamily="49" charset="0"/>
                <a:cs typeface="Courier New" panose="02070309020205020404" pitchFamily="49" charset="0"/>
              </a:rPr>
              <a:t>→</a:t>
            </a:r>
            <a:r>
              <a:rPr lang="fr-CA"/>
              <a:t> </a:t>
            </a:r>
            <a:r>
              <a:rPr lang="fr-CA" b="1">
                <a:solidFill>
                  <a:srgbClr val="81ADB6"/>
                </a:solidFill>
              </a:rPr>
              <a:t>200</a:t>
            </a:r>
            <a:r>
              <a:rPr lang="fr-CA"/>
              <a:t> + </a:t>
            </a:r>
            <a:r>
              <a:rPr lang="fr-CA" b="1">
                <a:solidFill>
                  <a:srgbClr val="81ADB6"/>
                </a:solidFill>
              </a:rPr>
              <a:t>30</a:t>
            </a:r>
            <a:r>
              <a:rPr lang="fr-CA"/>
              <a:t> * </a:t>
            </a:r>
            <a:r>
              <a:rPr lang="fr-CA" b="1"/>
              <a:t>2</a:t>
            </a:r>
            <a:r>
              <a:rPr lang="fr-CA"/>
              <a:t> + </a:t>
            </a:r>
            <a:r>
              <a:rPr lang="fr-CA" b="1">
                <a:solidFill>
                  <a:srgbClr val="81ADB6"/>
                </a:solidFill>
              </a:rPr>
              <a:t>10</a:t>
            </a:r>
            <a:r>
              <a:rPr lang="fr-CA"/>
              <a:t> + </a:t>
            </a:r>
            <a:r>
              <a:rPr lang="fr-CA" b="1">
                <a:solidFill>
                  <a:srgbClr val="81ADB6"/>
                </a:solidFill>
              </a:rPr>
              <a:t>20</a:t>
            </a:r>
            <a:r>
              <a:rPr lang="fr-CA"/>
              <a:t> = </a:t>
            </a:r>
            <a:r>
              <a:rPr lang="fr-CA" b="1">
                <a:solidFill>
                  <a:srgbClr val="81ADB6"/>
                </a:solidFill>
              </a:rPr>
              <a:t>290</a:t>
            </a:r>
            <a:r>
              <a:rPr lang="fr-CA"/>
              <a:t> pixels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BB144A-BB74-4C17-A2B4-916F84822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42" y="2169051"/>
            <a:ext cx="4801016" cy="2507197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F7E2034-17E4-4B82-BDFA-3E4A2CD6F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666" y="1971934"/>
            <a:ext cx="4619903" cy="286490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BF64BF5-C781-4182-A9A0-59128522B597}"/>
              </a:ext>
            </a:extLst>
          </p:cNvPr>
          <p:cNvSpPr txBox="1"/>
          <p:nvPr/>
        </p:nvSpPr>
        <p:spPr>
          <a:xfrm>
            <a:off x="0" y="5992297"/>
            <a:ext cx="441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7F7FBB"/>
                </a:solidFill>
              </a:rPr>
              <a:t>L’ordre est </a:t>
            </a:r>
            <a:r>
              <a:rPr lang="fr-CA">
                <a:solidFill>
                  <a:srgbClr val="7F7FBB"/>
                </a:solidFill>
              </a:rPr>
              <a:t>: Haut Droite Bas Gauche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A907DBD-95E7-46BF-B3F5-6C428143F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120" y="5992297"/>
            <a:ext cx="440055" cy="3693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828D15-9088-4651-9391-371932ADC4FC}"/>
              </a:ext>
            </a:extLst>
          </p:cNvPr>
          <p:cNvSpPr/>
          <p:nvPr/>
        </p:nvSpPr>
        <p:spPr>
          <a:xfrm>
            <a:off x="2705729" y="3448049"/>
            <a:ext cx="558800" cy="298450"/>
          </a:xfrm>
          <a:prstGeom prst="rect">
            <a:avLst/>
          </a:prstGeom>
          <a:noFill/>
          <a:ln w="28575">
            <a:solidFill>
              <a:srgbClr val="81AD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25440F-26B8-4DA6-9620-DFF1259828C8}"/>
              </a:ext>
            </a:extLst>
          </p:cNvPr>
          <p:cNvSpPr/>
          <p:nvPr/>
        </p:nvSpPr>
        <p:spPr>
          <a:xfrm>
            <a:off x="3814914" y="3448049"/>
            <a:ext cx="558800" cy="298450"/>
          </a:xfrm>
          <a:prstGeom prst="rect">
            <a:avLst/>
          </a:prstGeom>
          <a:noFill/>
          <a:ln w="28575">
            <a:solidFill>
              <a:srgbClr val="81AD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9EDCD4-249E-4C9B-B311-5761E3BDBA71}"/>
              </a:ext>
            </a:extLst>
          </p:cNvPr>
          <p:cNvSpPr/>
          <p:nvPr/>
        </p:nvSpPr>
        <p:spPr>
          <a:xfrm>
            <a:off x="2156050" y="3754889"/>
            <a:ext cx="714149" cy="298450"/>
          </a:xfrm>
          <a:prstGeom prst="rect">
            <a:avLst/>
          </a:prstGeom>
          <a:noFill/>
          <a:ln w="28575">
            <a:solidFill>
              <a:srgbClr val="81AD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A0E87-DF04-4C2B-8346-A35D5ACA7BAF}"/>
              </a:ext>
            </a:extLst>
          </p:cNvPr>
          <p:cNvSpPr/>
          <p:nvPr/>
        </p:nvSpPr>
        <p:spPr>
          <a:xfrm>
            <a:off x="1933478" y="4069518"/>
            <a:ext cx="821470" cy="298450"/>
          </a:xfrm>
          <a:prstGeom prst="rect">
            <a:avLst/>
          </a:prstGeom>
          <a:noFill/>
          <a:ln w="28575">
            <a:solidFill>
              <a:srgbClr val="81AD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25882EC-8B9C-4923-9B1D-3AA866CF725D}"/>
              </a:ext>
            </a:extLst>
          </p:cNvPr>
          <p:cNvSpPr txBox="1"/>
          <p:nvPr/>
        </p:nvSpPr>
        <p:spPr>
          <a:xfrm>
            <a:off x="2868556" y="3719448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81ADB6"/>
                </a:solidFill>
              </a:rPr>
              <a:t>x 2 côtés</a:t>
            </a:r>
            <a:endParaRPr lang="fr-CA">
              <a:solidFill>
                <a:srgbClr val="81AD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479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80AC2-D1C5-4CD6-833A-C13E2389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Types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15D0BB-4FE4-480C-BE01-2FD99A1C0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Il y a plusieurs types de boîtes…</a:t>
            </a:r>
          </a:p>
          <a:p>
            <a:pPr lvl="1"/>
            <a:r>
              <a:rPr lang="fr-CA"/>
              <a:t>Inline</a:t>
            </a:r>
          </a:p>
          <a:p>
            <a:pPr lvl="1"/>
            <a:r>
              <a:rPr lang="fr-CA"/>
              <a:t>Block</a:t>
            </a:r>
          </a:p>
          <a:p>
            <a:pPr lvl="1"/>
            <a:r>
              <a:rPr lang="fr-CA"/>
              <a:t>Inline-block</a:t>
            </a:r>
          </a:p>
          <a:p>
            <a:pPr lvl="1"/>
            <a:r>
              <a:rPr lang="fr-CA"/>
              <a:t>None</a:t>
            </a:r>
          </a:p>
          <a:p>
            <a:pPr lvl="1"/>
            <a:r>
              <a:rPr lang="fr-CA"/>
              <a:t>…</a:t>
            </a:r>
          </a:p>
          <a:p>
            <a:endParaRPr lang="fr-CA"/>
          </a:p>
          <a:p>
            <a:r>
              <a:rPr lang="fr-CA"/>
              <a:t>En HTML / CSS, chaque élément correspond à un </a:t>
            </a:r>
          </a:p>
          <a:p>
            <a:pPr marL="0" indent="0">
              <a:buNone/>
            </a:pPr>
            <a:r>
              <a:rPr lang="fr-CA"/>
              <a:t>type de boîte </a:t>
            </a:r>
            <a:r>
              <a:rPr lang="fr-CA" b="1"/>
              <a:t>précis</a:t>
            </a:r>
            <a:r>
              <a:rPr lang="fr-CA"/>
              <a:t>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1A453FC-71C1-46FB-B372-C3B8F65C5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506" y="3650744"/>
            <a:ext cx="3295650" cy="247173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EFC679B-9DF1-4B43-83B8-1A7F51ABE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506" y="981829"/>
            <a:ext cx="3251200" cy="244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06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466B7E-3CAE-4FB3-962F-B9051C88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Types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9E6910-D0C9-494D-B808-F4F3F3CE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 b="1">
                <a:solidFill>
                  <a:srgbClr val="E351E7"/>
                </a:solidFill>
              </a:rPr>
              <a:t>Inline</a:t>
            </a:r>
          </a:p>
          <a:p>
            <a:pPr lvl="1"/>
            <a:r>
              <a:rPr lang="fr-CA"/>
              <a:t>Éléments « Inline » par défaut : </a:t>
            </a:r>
            <a:r>
              <a:rPr lang="fr-CA">
                <a:solidFill>
                  <a:srgbClr val="E351E7"/>
                </a:solidFill>
              </a:rPr>
              <a:t>span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a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img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strong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em</a:t>
            </a:r>
            <a:r>
              <a:rPr lang="fr-CA"/>
              <a:t>, etc.</a:t>
            </a:r>
          </a:p>
          <a:p>
            <a:pPr lvl="1"/>
            <a:r>
              <a:rPr lang="fr-CA"/>
              <a:t>Ils ne génèrent pas de </a:t>
            </a:r>
            <a:r>
              <a:rPr lang="fr-CA" b="1"/>
              <a:t>sauts de ligne</a:t>
            </a:r>
          </a:p>
          <a:p>
            <a:pPr lvl="2"/>
            <a:r>
              <a:rPr lang="fr-CA"/>
              <a:t>S’il y a suffisamment d’espace, ils resteront sur la même ligne que l’élément précédent.</a:t>
            </a:r>
          </a:p>
          <a:p>
            <a:pPr lvl="1"/>
            <a:r>
              <a:rPr lang="fr-CA"/>
              <a:t>On </a:t>
            </a:r>
            <a:r>
              <a:rPr lang="fr-CA" b="1"/>
              <a:t>ne peut pas </a:t>
            </a:r>
            <a:r>
              <a:rPr lang="fr-CA"/>
              <a:t>spécifier leur </a:t>
            </a:r>
            <a:r>
              <a:rPr lang="fr-CA" b="1"/>
              <a:t>width</a:t>
            </a:r>
            <a:r>
              <a:rPr lang="fr-CA"/>
              <a:t> et leur </a:t>
            </a:r>
            <a:r>
              <a:rPr lang="fr-CA" b="1"/>
              <a:t>height</a:t>
            </a:r>
            <a:r>
              <a:rPr lang="fr-CA"/>
              <a:t> : ils prennent uniquement l’espace nécessaire. (On </a:t>
            </a:r>
            <a:r>
              <a:rPr lang="fr-CA" i="1"/>
              <a:t>peut</a:t>
            </a:r>
            <a:r>
              <a:rPr lang="fr-CA"/>
              <a:t>, mais ça ne fera rien)</a:t>
            </a:r>
          </a:p>
          <a:p>
            <a:pPr lvl="1"/>
            <a:endParaRPr lang="fr-CA"/>
          </a:p>
          <a:p>
            <a:pPr lvl="1"/>
            <a:r>
              <a:rPr lang="fr-CA"/>
              <a:t>Ci-dessous, l’exemple de </a:t>
            </a:r>
            <a:r>
              <a:rPr lang="fr-CA">
                <a:solidFill>
                  <a:srgbClr val="E351E7"/>
                </a:solidFill>
              </a:rPr>
              <a:t>&lt;span&gt;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5F6237-253D-41AA-8608-EA28A684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509" y="4377635"/>
            <a:ext cx="5435600" cy="643777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3047DB2-AFFB-46FE-81FD-6E639F57F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25" y="4377635"/>
            <a:ext cx="4519052" cy="1265030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2ED1C84-6BF4-4BBB-A4F2-05D35E677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011" y="5295812"/>
            <a:ext cx="3586595" cy="518215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F9DEC33-9202-4CFB-A2C5-EB04A28ABD99}"/>
              </a:ext>
            </a:extLst>
          </p:cNvPr>
          <p:cNvSpPr txBox="1"/>
          <p:nvPr/>
        </p:nvSpPr>
        <p:spPr>
          <a:xfrm>
            <a:off x="171095" y="6034028"/>
            <a:ext cx="441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F7FBB"/>
                </a:solidFill>
              </a:rPr>
              <a:t>La règle </a:t>
            </a:r>
            <a:r>
              <a:rPr lang="fr-CA" b="1">
                <a:solidFill>
                  <a:srgbClr val="E351E7"/>
                </a:solidFill>
              </a:rPr>
              <a:t>height</a:t>
            </a:r>
            <a:r>
              <a:rPr lang="fr-CA">
                <a:solidFill>
                  <a:srgbClr val="7F7FBB"/>
                </a:solidFill>
              </a:rPr>
              <a:t> n’a pas d’effets …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4FC272A-713B-4BFC-991F-B76DDAE5E32E}"/>
              </a:ext>
            </a:extLst>
          </p:cNvPr>
          <p:cNvCxnSpPr>
            <a:cxnSpLocks/>
          </p:cNvCxnSpPr>
          <p:nvPr/>
        </p:nvCxnSpPr>
        <p:spPr>
          <a:xfrm flipV="1">
            <a:off x="1406360" y="5365750"/>
            <a:ext cx="403390" cy="720103"/>
          </a:xfrm>
          <a:prstGeom prst="straightConnector1">
            <a:avLst/>
          </a:prstGeom>
          <a:ln w="38100">
            <a:solidFill>
              <a:srgbClr val="7F7FB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090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466B7E-3CAE-4FB3-962F-B9051C88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Types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9E6910-D0C9-494D-B808-F4F3F3CE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 b="1">
                <a:solidFill>
                  <a:srgbClr val="E351E7"/>
                </a:solidFill>
              </a:rPr>
              <a:t>Block</a:t>
            </a:r>
          </a:p>
          <a:p>
            <a:pPr lvl="1"/>
            <a:r>
              <a:rPr lang="fr-CA"/>
              <a:t>Éléments « Block » par défaut : </a:t>
            </a:r>
            <a:r>
              <a:rPr lang="fr-CA">
                <a:solidFill>
                  <a:srgbClr val="E351E7"/>
                </a:solidFill>
              </a:rPr>
              <a:t>div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h1-h6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p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header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main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footer</a:t>
            </a:r>
            <a:r>
              <a:rPr lang="fr-CA"/>
              <a:t>, etc.</a:t>
            </a:r>
          </a:p>
          <a:p>
            <a:pPr lvl="1"/>
            <a:r>
              <a:rPr lang="fr-CA"/>
              <a:t>Ils génèrent un </a:t>
            </a:r>
            <a:r>
              <a:rPr lang="fr-CA" b="1"/>
              <a:t>saut de ligne </a:t>
            </a:r>
            <a:r>
              <a:rPr lang="fr-CA"/>
              <a:t>et seront </a:t>
            </a:r>
            <a:r>
              <a:rPr lang="fr-CA" b="1"/>
              <a:t>seuls</a:t>
            </a:r>
            <a:r>
              <a:rPr lang="fr-CA"/>
              <a:t> sur leur ligne.</a:t>
            </a:r>
          </a:p>
          <a:p>
            <a:pPr lvl="1"/>
            <a:r>
              <a:rPr lang="fr-CA"/>
              <a:t>On </a:t>
            </a:r>
            <a:r>
              <a:rPr lang="fr-CA" b="1"/>
              <a:t>peut </a:t>
            </a:r>
            <a:r>
              <a:rPr lang="fr-CA"/>
              <a:t>spécifier leur </a:t>
            </a:r>
            <a:r>
              <a:rPr lang="fr-CA" b="1"/>
              <a:t>width</a:t>
            </a:r>
            <a:r>
              <a:rPr lang="fr-CA"/>
              <a:t> et leur </a:t>
            </a:r>
            <a:r>
              <a:rPr lang="fr-CA" b="1"/>
              <a:t>height</a:t>
            </a:r>
            <a:r>
              <a:rPr lang="fr-CA"/>
              <a:t> : ils prennent l’espace alloué.</a:t>
            </a:r>
          </a:p>
          <a:p>
            <a:pPr lvl="2"/>
            <a:r>
              <a:rPr lang="fr-CA"/>
              <a:t>Si on ne spécifie pas de taille : Ils prennent toute la </a:t>
            </a:r>
            <a:r>
              <a:rPr lang="fr-CA" b="1"/>
              <a:t>largeur</a:t>
            </a:r>
            <a:r>
              <a:rPr lang="fr-CA"/>
              <a:t> disponible, mais seulement la </a:t>
            </a:r>
            <a:r>
              <a:rPr lang="fr-CA" b="1"/>
              <a:t>hauteur</a:t>
            </a:r>
            <a:r>
              <a:rPr lang="fr-CA"/>
              <a:t> nécessaire.</a:t>
            </a:r>
          </a:p>
          <a:p>
            <a:pPr lvl="1"/>
            <a:r>
              <a:rPr lang="fr-CA"/>
              <a:t>Ici, on a l’exemple de </a:t>
            </a:r>
            <a:r>
              <a:rPr lang="fr-CA">
                <a:solidFill>
                  <a:srgbClr val="E351E7"/>
                </a:solidFill>
              </a:rPr>
              <a:t>&lt;p&gt;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15252B8-F858-485F-A14E-12BBBF544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306" y="3273010"/>
            <a:ext cx="4938188" cy="2766300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656C87C-164A-4834-9189-422511F12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38" y="4753742"/>
            <a:ext cx="5208662" cy="1285568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9CE4432-FF19-4F76-BCAF-D7BE9E6F1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38" y="3983574"/>
            <a:ext cx="4839119" cy="632515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</p:spTree>
    <p:extLst>
      <p:ext uri="{BB962C8B-B14F-4D97-AF65-F5344CB8AC3E}">
        <p14:creationId xmlns:p14="http://schemas.microsoft.com/office/powerpoint/2010/main" val="1049355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466B7E-3CAE-4FB3-962F-B9051C88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Types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9E6910-D0C9-494D-B808-F4F3F3CE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 b="1">
                <a:solidFill>
                  <a:srgbClr val="E351E7"/>
                </a:solidFill>
              </a:rPr>
              <a:t>Inline-Block</a:t>
            </a:r>
          </a:p>
          <a:p>
            <a:pPr lvl="1"/>
            <a:r>
              <a:rPr lang="fr-CA"/>
              <a:t>Éléments « Inline-Block » par défaut : </a:t>
            </a:r>
            <a:r>
              <a:rPr lang="fr-CA">
                <a:solidFill>
                  <a:srgbClr val="E351E7"/>
                </a:solidFill>
              </a:rPr>
              <a:t>Aucun…</a:t>
            </a:r>
            <a:endParaRPr lang="fr-CA"/>
          </a:p>
          <a:p>
            <a:pPr lvl="1"/>
            <a:r>
              <a:rPr lang="fr-CA"/>
              <a:t>Ils ne génèrent pas de </a:t>
            </a:r>
            <a:r>
              <a:rPr lang="fr-CA" b="1"/>
              <a:t>sauts de ligne</a:t>
            </a:r>
          </a:p>
          <a:p>
            <a:pPr lvl="2"/>
            <a:r>
              <a:rPr lang="fr-CA"/>
              <a:t>S’il y a suffisamment d’espace, ils resteront sur la même ligne que l’élément précédent.</a:t>
            </a:r>
          </a:p>
          <a:p>
            <a:pPr lvl="1"/>
            <a:r>
              <a:rPr lang="fr-CA"/>
              <a:t>On </a:t>
            </a:r>
            <a:r>
              <a:rPr lang="fr-CA" b="1"/>
              <a:t>peut </a:t>
            </a:r>
            <a:r>
              <a:rPr lang="fr-CA"/>
              <a:t>spécifier leur </a:t>
            </a:r>
            <a:r>
              <a:rPr lang="fr-CA" b="1"/>
              <a:t>width</a:t>
            </a:r>
            <a:r>
              <a:rPr lang="fr-CA"/>
              <a:t> et leur </a:t>
            </a:r>
            <a:r>
              <a:rPr lang="fr-CA" b="1"/>
              <a:t>height</a:t>
            </a:r>
            <a:r>
              <a:rPr lang="fr-CA"/>
              <a:t> : ils prennent l’espace alloué.</a:t>
            </a:r>
          </a:p>
          <a:p>
            <a:pPr lvl="2"/>
            <a:r>
              <a:rPr lang="fr-CA"/>
              <a:t>Si on ne spécifie pas de taille : Ils prennent que la </a:t>
            </a:r>
            <a:r>
              <a:rPr lang="fr-CA" b="1"/>
              <a:t>largeur</a:t>
            </a:r>
            <a:r>
              <a:rPr lang="fr-CA"/>
              <a:t> nécessaire et seulement la </a:t>
            </a:r>
            <a:r>
              <a:rPr lang="fr-CA" b="1"/>
              <a:t>hauteur</a:t>
            </a:r>
            <a:r>
              <a:rPr lang="fr-CA"/>
              <a:t> nécessaire.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EE8A9E8-F527-48C9-83BD-393BCB74D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54" y="3692213"/>
            <a:ext cx="3689349" cy="1276613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0DFA74D-6532-4B7C-8CC3-1CD5F8BE0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15" y="5105196"/>
            <a:ext cx="4464271" cy="1192693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78E4FA0-A256-44E2-9AD7-1AF6B7B45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137" y="4139895"/>
            <a:ext cx="4945809" cy="1699407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</p:spTree>
    <p:extLst>
      <p:ext uri="{BB962C8B-B14F-4D97-AF65-F5344CB8AC3E}">
        <p14:creationId xmlns:p14="http://schemas.microsoft.com/office/powerpoint/2010/main" val="866864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466B7E-3CAE-4FB3-962F-B9051C88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Types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9E6910-D0C9-494D-B808-F4F3F3CE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 b="1">
                <a:solidFill>
                  <a:srgbClr val="E351E7"/>
                </a:solidFill>
              </a:rPr>
              <a:t>None</a:t>
            </a:r>
          </a:p>
          <a:p>
            <a:pPr lvl="1"/>
            <a:r>
              <a:rPr lang="fr-CA"/>
              <a:t>Éléments « None » par défaut : </a:t>
            </a:r>
            <a:r>
              <a:rPr lang="fr-CA">
                <a:solidFill>
                  <a:srgbClr val="E351E7"/>
                </a:solidFill>
              </a:rPr>
              <a:t>Aucun…</a:t>
            </a:r>
            <a:endParaRPr lang="fr-CA"/>
          </a:p>
          <a:p>
            <a:pPr lvl="1"/>
            <a:r>
              <a:rPr lang="fr-CA"/>
              <a:t>Ils ne sont pas affichés.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DE73340-AC25-4223-BB3A-637851699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65" y="2534866"/>
            <a:ext cx="4473328" cy="1242168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2155810-8B55-436A-84EA-939E3858D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65" y="4271469"/>
            <a:ext cx="4808637" cy="1234547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9EEB109-3E05-4E97-AFE9-32F8F6171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612" y="2932484"/>
            <a:ext cx="4550603" cy="2084016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</p:spTree>
    <p:extLst>
      <p:ext uri="{BB962C8B-B14F-4D97-AF65-F5344CB8AC3E}">
        <p14:creationId xmlns:p14="http://schemas.microsoft.com/office/powerpoint/2010/main" val="138122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466B7E-3CAE-4FB3-962F-B9051C88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Types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9E6910-D0C9-494D-B808-F4F3F3CE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>
                <a:solidFill>
                  <a:srgbClr val="7F7FBB"/>
                </a:solidFill>
              </a:rPr>
              <a:t>Propriété</a:t>
            </a:r>
            <a:r>
              <a:rPr lang="fr-CA" b="1">
                <a:solidFill>
                  <a:srgbClr val="E351E7"/>
                </a:solidFill>
              </a:rPr>
              <a:t> display</a:t>
            </a:r>
          </a:p>
          <a:p>
            <a:pPr lvl="1"/>
            <a:r>
              <a:rPr lang="fr-CA"/>
              <a:t>Permet de changer le type de boîte d’un élément.</a:t>
            </a:r>
          </a:p>
          <a:p>
            <a:pPr lvl="2"/>
            <a:r>
              <a:rPr lang="fr-CA" b="1"/>
              <a:t>Options</a:t>
            </a:r>
            <a:r>
              <a:rPr lang="fr-CA"/>
              <a:t> : block, inline, inline-block, none, etc.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1"/>
            <a:r>
              <a:rPr lang="fr-CA"/>
              <a:t>Ici, le </a:t>
            </a:r>
            <a:r>
              <a:rPr lang="fr-CA">
                <a:solidFill>
                  <a:srgbClr val="E351E7"/>
                </a:solidFill>
              </a:rPr>
              <a:t>span</a:t>
            </a:r>
            <a:r>
              <a:rPr lang="fr-CA"/>
              <a:t>, qui est </a:t>
            </a:r>
            <a:r>
              <a:rPr lang="fr-CA">
                <a:solidFill>
                  <a:srgbClr val="E351E7"/>
                </a:solidFill>
              </a:rPr>
              <a:t>inline</a:t>
            </a:r>
            <a:r>
              <a:rPr lang="fr-CA"/>
              <a:t> par défaut, est plutôt devenu </a:t>
            </a:r>
            <a:r>
              <a:rPr lang="fr-CA">
                <a:solidFill>
                  <a:srgbClr val="E351E7"/>
                </a:solidFill>
              </a:rPr>
              <a:t>block</a:t>
            </a:r>
            <a:r>
              <a:rPr lang="fr-CA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BDFE9C-4130-4B61-8DBE-E3E7134E7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3429000"/>
            <a:ext cx="4549534" cy="1249788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15E0C36-6D6C-4E90-859C-B23A815D1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37" y="2484503"/>
            <a:ext cx="10226926" cy="617273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60FC990-B423-48F4-9156-7120A61E5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0" y="3429000"/>
            <a:ext cx="6083603" cy="1574800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</p:spTree>
    <p:extLst>
      <p:ext uri="{BB962C8B-B14F-4D97-AF65-F5344CB8AC3E}">
        <p14:creationId xmlns:p14="http://schemas.microsoft.com/office/powerpoint/2010/main" val="1053457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0347282C-8935-49B1-A0AD-4DDC2EEA8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795" y="1706003"/>
            <a:ext cx="4448298" cy="1835696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2BBD07E-04A7-4842-A72C-F6A890406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923" y="1868092"/>
            <a:ext cx="4353881" cy="1961268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A5DC908-3692-4FE1-8FF7-1B959FBD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Types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793E3D-C418-47B7-8D77-567249A7A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Comment rendre ce menu de navigation horizontal avec CSS ?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23DC00C-9177-4CA8-B4D0-95A780A88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19" y="4113976"/>
            <a:ext cx="5031985" cy="1989532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E652DD27-52F0-4E9D-9876-11BE7A9989CE}"/>
              </a:ext>
            </a:extLst>
          </p:cNvPr>
          <p:cNvCxnSpPr/>
          <p:nvPr/>
        </p:nvCxnSpPr>
        <p:spPr>
          <a:xfrm>
            <a:off x="7620000" y="3702050"/>
            <a:ext cx="412749" cy="622300"/>
          </a:xfrm>
          <a:prstGeom prst="straightConnector1">
            <a:avLst/>
          </a:prstGeom>
          <a:ln w="76200">
            <a:solidFill>
              <a:srgbClr val="B681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D29E8DDD-097B-4EC3-BF4C-3BBEDBBDED7B}"/>
              </a:ext>
            </a:extLst>
          </p:cNvPr>
          <p:cNvSpPr txBox="1"/>
          <p:nvPr/>
        </p:nvSpPr>
        <p:spPr>
          <a:xfrm>
            <a:off x="8032749" y="3768622"/>
            <a:ext cx="3427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800" b="1">
                <a:solidFill>
                  <a:srgbClr val="B681AE"/>
                </a:solidFill>
              </a:rPr>
              <a:t>??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5777FB7-71ED-452D-A81A-6C4262F88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129" y="4442586"/>
            <a:ext cx="3711401" cy="1528224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</p:spTree>
    <p:extLst>
      <p:ext uri="{BB962C8B-B14F-4D97-AF65-F5344CB8AC3E}">
        <p14:creationId xmlns:p14="http://schemas.microsoft.com/office/powerpoint/2010/main" val="2008500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5DC908-3692-4FE1-8FF7-1B959FBD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Types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793E3D-C418-47B7-8D77-567249A7A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Comment rendre ce menu de navigation horizontal avec CSS 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5777FB7-71ED-452D-A81A-6C4262F88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44" y="4299337"/>
            <a:ext cx="3497883" cy="1440305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EA1D0AD-73C3-4D9C-919F-9AF8A000E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69" y="2400557"/>
            <a:ext cx="4151834" cy="1363790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FD1D137-0739-479F-9B79-BFF8A6FE3FF0}"/>
              </a:ext>
            </a:extLst>
          </p:cNvPr>
          <p:cNvSpPr txBox="1"/>
          <p:nvPr/>
        </p:nvSpPr>
        <p:spPr>
          <a:xfrm>
            <a:off x="215899" y="1879043"/>
            <a:ext cx="34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b="1">
                <a:solidFill>
                  <a:srgbClr val="B681AE"/>
                </a:solidFill>
              </a:rPr>
              <a:t>Option 1</a:t>
            </a:r>
            <a:r>
              <a:rPr lang="fr-CA" sz="2400">
                <a:solidFill>
                  <a:srgbClr val="B681AE"/>
                </a:solidFill>
              </a:rPr>
              <a:t> : inline-block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765B4B4-35CE-4462-AB91-951C5A04F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743" y="2389259"/>
            <a:ext cx="4151834" cy="1375088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EE73B946-BE9F-4086-A0A8-D773053AE37F}"/>
              </a:ext>
            </a:extLst>
          </p:cNvPr>
          <p:cNvSpPr txBox="1"/>
          <p:nvPr/>
        </p:nvSpPr>
        <p:spPr>
          <a:xfrm>
            <a:off x="5121831" y="1879273"/>
            <a:ext cx="34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b="1">
                <a:solidFill>
                  <a:srgbClr val="B681AE"/>
                </a:solidFill>
              </a:rPr>
              <a:t>Option 2</a:t>
            </a:r>
            <a:r>
              <a:rPr lang="fr-CA" sz="2400">
                <a:solidFill>
                  <a:srgbClr val="B681AE"/>
                </a:solidFill>
              </a:rPr>
              <a:t> : inline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EDF0F69-A94A-4391-A706-EE5C87420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7873" y="4299337"/>
            <a:ext cx="3383573" cy="1204064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7DD2B8F-6782-425B-B361-1C15857ECE35}"/>
              </a:ext>
            </a:extLst>
          </p:cNvPr>
          <p:cNvCxnSpPr>
            <a:cxnSpLocks/>
          </p:cNvCxnSpPr>
          <p:nvPr/>
        </p:nvCxnSpPr>
        <p:spPr>
          <a:xfrm flipH="1">
            <a:off x="3321373" y="3352800"/>
            <a:ext cx="643323" cy="0"/>
          </a:xfrm>
          <a:prstGeom prst="straightConnector1">
            <a:avLst/>
          </a:prstGeom>
          <a:ln w="57150">
            <a:solidFill>
              <a:srgbClr val="81AD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0769A63-ECA6-4A7E-B8AC-D1D05CEE770D}"/>
              </a:ext>
            </a:extLst>
          </p:cNvPr>
          <p:cNvCxnSpPr>
            <a:cxnSpLocks/>
          </p:cNvCxnSpPr>
          <p:nvPr/>
        </p:nvCxnSpPr>
        <p:spPr>
          <a:xfrm flipH="1">
            <a:off x="7467923" y="3352800"/>
            <a:ext cx="643323" cy="0"/>
          </a:xfrm>
          <a:prstGeom prst="straightConnector1">
            <a:avLst/>
          </a:prstGeom>
          <a:ln w="57150">
            <a:solidFill>
              <a:srgbClr val="81AD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88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5C3FA-7C3D-4349-9132-1111E0AF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Types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316BC8-7D59-40C3-AD9A-2D5369C44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50" y="1026647"/>
            <a:ext cx="10515600" cy="5147506"/>
          </a:xfrm>
        </p:spPr>
        <p:txBody>
          <a:bodyPr/>
          <a:lstStyle/>
          <a:p>
            <a:r>
              <a:rPr lang="fr-CA"/>
              <a:t>Propriété </a:t>
            </a:r>
            <a:r>
              <a:rPr lang="fr-CA" b="1">
                <a:solidFill>
                  <a:srgbClr val="E351E7"/>
                </a:solidFill>
              </a:rPr>
              <a:t>overflow</a:t>
            </a:r>
            <a:r>
              <a:rPr lang="fr-CA"/>
              <a:t> :</a:t>
            </a:r>
          </a:p>
          <a:p>
            <a:pPr lvl="1"/>
            <a:r>
              <a:rPr lang="fr-CA"/>
              <a:t>Quand ça ne rentre</a:t>
            </a:r>
          </a:p>
          <a:p>
            <a:pPr marL="457200" lvl="1" indent="0">
              <a:buNone/>
            </a:pPr>
            <a:r>
              <a:rPr lang="fr-CA"/>
              <a:t>pas… qu’est-ce qu’on</a:t>
            </a:r>
          </a:p>
          <a:p>
            <a:pPr marL="457200" lvl="1" indent="0">
              <a:buNone/>
            </a:pPr>
            <a:r>
              <a:rPr lang="fr-CA"/>
              <a:t>fait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2FEE39-9A94-4738-8BFD-6AE09C41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050" y="975314"/>
            <a:ext cx="4197186" cy="2627896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00BD8D4-4F2F-40F5-BE6C-B9D5BC349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82" y="3833683"/>
            <a:ext cx="7544454" cy="2225233"/>
          </a:xfrm>
          <a:prstGeom prst="rect">
            <a:avLst/>
          </a:prstGeom>
          <a:ln w="38100">
            <a:solidFill>
              <a:srgbClr val="7F7FBB"/>
            </a:solidFill>
          </a:ln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CE4747E4-246A-4E25-9F05-332C79F38BCF}"/>
              </a:ext>
            </a:extLst>
          </p:cNvPr>
          <p:cNvSpPr txBox="1">
            <a:spLocks/>
          </p:cNvSpPr>
          <p:nvPr/>
        </p:nvSpPr>
        <p:spPr>
          <a:xfrm>
            <a:off x="8685818" y="911410"/>
            <a:ext cx="3042632" cy="51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000"/>
              <a:t> </a:t>
            </a:r>
            <a:r>
              <a:rPr lang="fr-CA" sz="2000" b="1">
                <a:solidFill>
                  <a:srgbClr val="E351E7"/>
                </a:solidFill>
              </a:rPr>
              <a:t>scroll</a:t>
            </a:r>
            <a:r>
              <a:rPr lang="fr-CA" sz="2000"/>
              <a:t> :</a:t>
            </a:r>
          </a:p>
          <a:p>
            <a:pPr marL="0" indent="0">
              <a:buNone/>
            </a:pPr>
            <a:r>
              <a:rPr lang="fr-CA" sz="2000"/>
              <a:t>Met 2 barres de défilement DANS la boîte.</a:t>
            </a:r>
          </a:p>
          <a:p>
            <a:r>
              <a:rPr lang="fr-CA" sz="2000"/>
              <a:t> </a:t>
            </a:r>
            <a:r>
              <a:rPr lang="fr-CA" sz="2000" b="1">
                <a:solidFill>
                  <a:srgbClr val="E351E7"/>
                </a:solidFill>
              </a:rPr>
              <a:t>hidden</a:t>
            </a:r>
            <a:r>
              <a:rPr lang="fr-CA" sz="2000"/>
              <a:t> :</a:t>
            </a:r>
          </a:p>
          <a:p>
            <a:pPr marL="0" indent="0">
              <a:buNone/>
            </a:pPr>
            <a:r>
              <a:rPr lang="fr-CA" sz="2000"/>
              <a:t>Cache le texte qui dépasse.</a:t>
            </a:r>
          </a:p>
          <a:p>
            <a:r>
              <a:rPr lang="fr-CA" sz="2000"/>
              <a:t> </a:t>
            </a:r>
            <a:r>
              <a:rPr lang="fr-CA" sz="2000" b="1">
                <a:solidFill>
                  <a:srgbClr val="E351E7"/>
                </a:solidFill>
              </a:rPr>
              <a:t>auto</a:t>
            </a:r>
            <a:r>
              <a:rPr lang="fr-CA" sz="2000"/>
              <a:t> :</a:t>
            </a:r>
          </a:p>
          <a:p>
            <a:pPr marL="0" indent="0">
              <a:buNone/>
            </a:pPr>
            <a:r>
              <a:rPr lang="fr-CA" sz="2000"/>
              <a:t>Met 1 ou 2 barres de défilement lorsque nécessaire.</a:t>
            </a:r>
          </a:p>
          <a:p>
            <a:r>
              <a:rPr lang="fr-CA" sz="2000"/>
              <a:t> </a:t>
            </a:r>
            <a:r>
              <a:rPr lang="fr-CA" sz="2000" b="1">
                <a:solidFill>
                  <a:srgbClr val="E351E7"/>
                </a:solidFill>
              </a:rPr>
              <a:t>visible</a:t>
            </a:r>
            <a:r>
              <a:rPr lang="fr-CA" sz="2000"/>
              <a:t> : (défaut)</a:t>
            </a:r>
          </a:p>
          <a:p>
            <a:pPr marL="0" indent="0">
              <a:buNone/>
            </a:pPr>
            <a:r>
              <a:rPr lang="fr-CA" sz="2000"/>
              <a:t>Ça DÉBORDE !</a:t>
            </a:r>
          </a:p>
        </p:txBody>
      </p:sp>
    </p:spTree>
    <p:extLst>
      <p:ext uri="{BB962C8B-B14F-4D97-AF65-F5344CB8AC3E}">
        <p14:creationId xmlns:p14="http://schemas.microsoft.com/office/powerpoint/2010/main" val="1063370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5C3FA-7C3D-4349-9132-1111E0AF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Types de boîtes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316BC8-7D59-40C3-AD9A-2D5369C44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50" y="1026647"/>
            <a:ext cx="10515600" cy="5147506"/>
          </a:xfrm>
        </p:spPr>
        <p:txBody>
          <a:bodyPr/>
          <a:lstStyle/>
          <a:p>
            <a:r>
              <a:rPr lang="fr-CA"/>
              <a:t>Propriété </a:t>
            </a:r>
            <a:r>
              <a:rPr lang="fr-CA" b="1">
                <a:solidFill>
                  <a:srgbClr val="E351E7"/>
                </a:solidFill>
              </a:rPr>
              <a:t>overflow</a:t>
            </a:r>
            <a:r>
              <a:rPr lang="fr-CA"/>
              <a:t> :</a:t>
            </a:r>
          </a:p>
          <a:p>
            <a:pPr lvl="1"/>
            <a:r>
              <a:rPr lang="fr-CA"/>
              <a:t>Les propriétés </a:t>
            </a:r>
            <a:r>
              <a:rPr lang="fr-CA" b="1">
                <a:solidFill>
                  <a:srgbClr val="E351E7"/>
                </a:solidFill>
              </a:rPr>
              <a:t>overflow-x</a:t>
            </a:r>
            <a:r>
              <a:rPr lang="fr-CA"/>
              <a:t> et </a:t>
            </a:r>
            <a:r>
              <a:rPr lang="fr-CA" b="1">
                <a:solidFill>
                  <a:srgbClr val="E351E7"/>
                </a:solidFill>
              </a:rPr>
              <a:t>overflow-y</a:t>
            </a:r>
            <a:r>
              <a:rPr lang="fr-CA"/>
              <a:t> existent également et peuvent avoir les mêmes valeurs. (</a:t>
            </a:r>
            <a:r>
              <a:rPr lang="fr-CA">
                <a:solidFill>
                  <a:srgbClr val="E351E7"/>
                </a:solidFill>
              </a:rPr>
              <a:t>scroll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hidden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auto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visible</a:t>
            </a:r>
            <a:r>
              <a:rPr lang="fr-CA"/>
              <a:t>) Cela dit, elles permettent de décrire le comportement séparément pour le contenu qui déborde </a:t>
            </a:r>
            <a:r>
              <a:rPr lang="fr-CA" b="1"/>
              <a:t>horizontalement</a:t>
            </a:r>
            <a:r>
              <a:rPr lang="fr-CA"/>
              <a:t> (x) et </a:t>
            </a:r>
            <a:r>
              <a:rPr lang="fr-CA" b="1"/>
              <a:t>verticalement</a:t>
            </a:r>
            <a:r>
              <a:rPr lang="fr-CA"/>
              <a:t>. (y)</a:t>
            </a:r>
          </a:p>
        </p:txBody>
      </p:sp>
    </p:spTree>
    <p:extLst>
      <p:ext uri="{BB962C8B-B14F-4D97-AF65-F5344CB8AC3E}">
        <p14:creationId xmlns:p14="http://schemas.microsoft.com/office/powerpoint/2010/main" val="4010487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920ED-9E8B-4AD7-848A-DEF4197F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positionnement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67B7B-1CC9-403F-8957-72CB12C6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Pour le moment… les éléments </a:t>
            </a:r>
            <a:r>
              <a:rPr lang="fr-CA"/>
              <a:t>se positionnent </a:t>
            </a:r>
            <a:r>
              <a:rPr lang="fr-CA" dirty="0"/>
              <a:t>en suivant le flot du code HTML.</a:t>
            </a:r>
          </a:p>
          <a:p>
            <a:pPr lvl="1"/>
            <a:r>
              <a:rPr lang="fr-CA" dirty="0"/>
              <a:t>Et quand un élément est </a:t>
            </a:r>
            <a:r>
              <a:rPr lang="fr-CA" b="1" dirty="0" err="1"/>
              <a:t>inline</a:t>
            </a:r>
            <a:r>
              <a:rPr lang="fr-CA" dirty="0"/>
              <a:t> / </a:t>
            </a:r>
            <a:r>
              <a:rPr lang="fr-CA" b="1" dirty="0" err="1"/>
              <a:t>inline</a:t>
            </a:r>
            <a:r>
              <a:rPr lang="fr-CA" b="1" dirty="0"/>
              <a:t>-block</a:t>
            </a:r>
            <a:r>
              <a:rPr lang="fr-CA" dirty="0"/>
              <a:t>, il se mettra sur la même ligne que l’élément précédent si c’est possible.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1B819C1-B503-40C0-9647-AF167B0F3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63" y="4782178"/>
            <a:ext cx="5352930" cy="1181653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3D1ACF1-21F8-41A1-9156-E25355440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63" y="3342120"/>
            <a:ext cx="2286198" cy="122692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2DFC06D-0DEC-40D6-9DF8-B547809DE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094" y="3000331"/>
            <a:ext cx="2617036" cy="2963500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1849829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920ED-9E8B-4AD7-848A-DEF4197F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positionnement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67B7B-1CC9-403F-8957-72CB12C6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Propriété </a:t>
            </a:r>
            <a:r>
              <a:rPr lang="fr-CA" b="1">
                <a:solidFill>
                  <a:srgbClr val="E351E7"/>
                </a:solidFill>
              </a:rPr>
              <a:t>position</a:t>
            </a:r>
          </a:p>
          <a:p>
            <a:pPr lvl="1"/>
            <a:r>
              <a:rPr lang="fr-CA"/>
              <a:t>Plusieurs valeurs sont possibles :</a:t>
            </a:r>
          </a:p>
          <a:p>
            <a:pPr lvl="2"/>
            <a:r>
              <a:rPr lang="fr-CA"/>
              <a:t>static</a:t>
            </a:r>
          </a:p>
          <a:p>
            <a:pPr lvl="2"/>
            <a:r>
              <a:rPr lang="fr-CA"/>
              <a:t>relative</a:t>
            </a:r>
          </a:p>
          <a:p>
            <a:pPr lvl="2"/>
            <a:r>
              <a:rPr lang="fr-CA"/>
              <a:t>fixed</a:t>
            </a:r>
          </a:p>
          <a:p>
            <a:pPr lvl="2"/>
            <a:r>
              <a:rPr lang="fr-CA"/>
              <a:t>absolute</a:t>
            </a:r>
          </a:p>
          <a:p>
            <a:pPr lvl="2"/>
            <a:r>
              <a:rPr lang="fr-CA"/>
              <a:t>…</a:t>
            </a:r>
          </a:p>
          <a:p>
            <a:pPr lvl="2"/>
            <a:endParaRPr lang="fr-CA"/>
          </a:p>
          <a:p>
            <a:r>
              <a:rPr lang="fr-CA"/>
              <a:t>Propriété </a:t>
            </a:r>
            <a:r>
              <a:rPr lang="fr-CA" b="1">
                <a:solidFill>
                  <a:srgbClr val="E351E7"/>
                </a:solidFill>
              </a:rPr>
              <a:t>z-index</a:t>
            </a:r>
          </a:p>
          <a:p>
            <a:pPr lvl="1"/>
            <a:r>
              <a:rPr lang="fr-CA"/>
              <a:t>Pour déterminer la priorité d’affichage / la profondeur si des éléments partagent le même espace.</a:t>
            </a:r>
          </a:p>
        </p:txBody>
      </p:sp>
    </p:spTree>
    <p:extLst>
      <p:ext uri="{BB962C8B-B14F-4D97-AF65-F5344CB8AC3E}">
        <p14:creationId xmlns:p14="http://schemas.microsoft.com/office/powerpoint/2010/main" val="2461734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920ED-9E8B-4AD7-848A-DEF4197F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positionnement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67B7B-1CC9-403F-8957-72CB12C6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position : </a:t>
            </a:r>
            <a:r>
              <a:rPr lang="fr-CA" b="1">
                <a:solidFill>
                  <a:srgbClr val="E351E7"/>
                </a:solidFill>
              </a:rPr>
              <a:t>static</a:t>
            </a:r>
          </a:p>
          <a:p>
            <a:pPr lvl="1"/>
            <a:r>
              <a:rPr lang="fr-CA" b="1"/>
              <a:t>Par défaut</a:t>
            </a:r>
            <a:r>
              <a:rPr lang="fr-CA"/>
              <a:t>. Les éléments se positionnent en suivant le flot normal de la page.</a:t>
            </a:r>
          </a:p>
          <a:p>
            <a:pPr lvl="1"/>
            <a:endParaRPr lang="fr-CA"/>
          </a:p>
          <a:p>
            <a:pPr lvl="1"/>
            <a:r>
              <a:rPr lang="fr-CA"/>
              <a:t>Ici, on observe rien de particulier pour le positionnement</a:t>
            </a:r>
          </a:p>
          <a:p>
            <a:pPr marL="457200" lvl="1" indent="0">
              <a:buNone/>
            </a:pPr>
            <a:r>
              <a:rPr lang="fr-CA"/>
              <a:t>de la boîte rose, qui est « static ». (Comme c’est la valeur</a:t>
            </a:r>
          </a:p>
          <a:p>
            <a:pPr marL="457200" lvl="1" indent="0">
              <a:buNone/>
            </a:pPr>
            <a:r>
              <a:rPr lang="fr-CA"/>
              <a:t>par défaut… spécifier la règle est inutile)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D800AF-6590-42DE-822D-7C4BDAC3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32" y="3538363"/>
            <a:ext cx="7917866" cy="891617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55DB46D-F302-4C68-B362-C971E6A55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679" y="2437177"/>
            <a:ext cx="2331922" cy="309398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82163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920ED-9E8B-4AD7-848A-DEF4197F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positionnement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67B7B-1CC9-403F-8957-72CB12C6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position : </a:t>
            </a:r>
            <a:r>
              <a:rPr lang="fr-CA" b="1">
                <a:solidFill>
                  <a:srgbClr val="E351E7"/>
                </a:solidFill>
              </a:rPr>
              <a:t>relative</a:t>
            </a:r>
          </a:p>
          <a:p>
            <a:pPr lvl="1"/>
            <a:r>
              <a:rPr lang="fr-CA"/>
              <a:t>L’élément est à sa position normale dans le flot de la page… mais on peut désormais lui appliquer les propriétés </a:t>
            </a:r>
            <a:r>
              <a:rPr lang="fr-CA">
                <a:solidFill>
                  <a:srgbClr val="E351E7"/>
                </a:solidFill>
              </a:rPr>
              <a:t>left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right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top </a:t>
            </a:r>
            <a:r>
              <a:rPr lang="fr-CA"/>
              <a:t>et / ou </a:t>
            </a:r>
            <a:r>
              <a:rPr lang="fr-CA">
                <a:solidFill>
                  <a:srgbClr val="E351E7"/>
                </a:solidFill>
              </a:rPr>
              <a:t>bottom</a:t>
            </a:r>
            <a:r>
              <a:rPr lang="fr-CA"/>
              <a:t> pour le déplacer à partir de cette position normale.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B3EABCA-D19E-4C96-AA03-442B6F02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40" y="4959191"/>
            <a:ext cx="6355631" cy="94496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C8A30CC-018A-4C0C-8EAC-27484C8F7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40" y="2811699"/>
            <a:ext cx="3833192" cy="187468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6CC8E11-3BE8-4C6F-9AD1-1C44DEAB7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5545" y="2639100"/>
            <a:ext cx="2476715" cy="3238781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503E7C03-2108-4313-AE6C-040086A59AEE}"/>
              </a:ext>
            </a:extLst>
          </p:cNvPr>
          <p:cNvSpPr txBox="1">
            <a:spLocks/>
          </p:cNvSpPr>
          <p:nvPr/>
        </p:nvSpPr>
        <p:spPr>
          <a:xfrm>
            <a:off x="4429127" y="2811699"/>
            <a:ext cx="4669153" cy="1988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000">
                <a:solidFill>
                  <a:srgbClr val="8197B6"/>
                </a:solidFill>
              </a:rPr>
              <a:t>On remarque que le carré rose a été déplacé à </a:t>
            </a:r>
            <a:r>
              <a:rPr lang="fr-CA" sz="2000" b="1">
                <a:solidFill>
                  <a:srgbClr val="8197B6"/>
                </a:solidFill>
              </a:rPr>
              <a:t>20 pixels</a:t>
            </a:r>
            <a:r>
              <a:rPr lang="fr-CA" sz="2000">
                <a:solidFill>
                  <a:srgbClr val="8197B6"/>
                </a:solidFill>
              </a:rPr>
              <a:t> du </a:t>
            </a:r>
            <a:r>
              <a:rPr lang="fr-CA" sz="2000">
                <a:solidFill>
                  <a:srgbClr val="E351E7"/>
                </a:solidFill>
              </a:rPr>
              <a:t>haut</a:t>
            </a:r>
            <a:r>
              <a:rPr lang="fr-CA" sz="2000">
                <a:solidFill>
                  <a:srgbClr val="8197B6"/>
                </a:solidFill>
              </a:rPr>
              <a:t> et de la </a:t>
            </a:r>
            <a:r>
              <a:rPr lang="fr-CA" sz="2000">
                <a:solidFill>
                  <a:srgbClr val="E351E7"/>
                </a:solidFill>
              </a:rPr>
              <a:t>gauche</a:t>
            </a:r>
            <a:r>
              <a:rPr lang="fr-CA" sz="2000">
                <a:solidFill>
                  <a:srgbClr val="8197B6"/>
                </a:solidFill>
              </a:rPr>
              <a:t> de sa position normale.</a:t>
            </a:r>
          </a:p>
          <a:p>
            <a:r>
              <a:rPr lang="fr-CA" sz="2000">
                <a:solidFill>
                  <a:srgbClr val="8197B6"/>
                </a:solidFill>
              </a:rPr>
              <a:t>Les éléments suivants dans le flot normal ne tenteront pas de prendre la place laissée par l’élément « </a:t>
            </a:r>
            <a:r>
              <a:rPr lang="fr-CA" sz="2000" b="1">
                <a:solidFill>
                  <a:srgbClr val="8197B6"/>
                </a:solidFill>
              </a:rPr>
              <a:t>relative</a:t>
            </a:r>
            <a:r>
              <a:rPr lang="fr-CA" sz="2000">
                <a:solidFill>
                  <a:srgbClr val="8197B6"/>
                </a:solidFill>
              </a:rPr>
              <a:t> ».</a:t>
            </a:r>
          </a:p>
        </p:txBody>
      </p:sp>
    </p:spTree>
    <p:extLst>
      <p:ext uri="{BB962C8B-B14F-4D97-AF65-F5344CB8AC3E}">
        <p14:creationId xmlns:p14="http://schemas.microsoft.com/office/powerpoint/2010/main" val="432219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920ED-9E8B-4AD7-848A-DEF4197F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positionnement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67B7B-1CC9-403F-8957-72CB12C6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position : </a:t>
            </a:r>
            <a:r>
              <a:rPr lang="fr-CA" b="1">
                <a:solidFill>
                  <a:srgbClr val="E351E7"/>
                </a:solidFill>
              </a:rPr>
              <a:t>fixed</a:t>
            </a:r>
          </a:p>
          <a:p>
            <a:pPr lvl="1"/>
            <a:r>
              <a:rPr lang="fr-CA"/>
              <a:t>L’élément quitte le flot normal de la page. Il est toujours situé au même endroit dans le </a:t>
            </a:r>
            <a:r>
              <a:rPr lang="fr-CA" b="1"/>
              <a:t>viewport</a:t>
            </a:r>
            <a:r>
              <a:rPr lang="fr-CA"/>
              <a:t>, </a:t>
            </a:r>
            <a:r>
              <a:rPr lang="fr-CA" b="1"/>
              <a:t>même si on défile la page</a:t>
            </a:r>
            <a:r>
              <a:rPr lang="fr-CA"/>
              <a:t>. Par défaut, il sera dans le coin supérieur gauche. On peut le déplacer avec les règles </a:t>
            </a:r>
            <a:r>
              <a:rPr lang="fr-CA">
                <a:solidFill>
                  <a:srgbClr val="E351E7"/>
                </a:solidFill>
              </a:rPr>
              <a:t>top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left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right</a:t>
            </a:r>
            <a:r>
              <a:rPr lang="fr-CA"/>
              <a:t> et / ou </a:t>
            </a:r>
            <a:r>
              <a:rPr lang="fr-CA">
                <a:solidFill>
                  <a:srgbClr val="E351E7"/>
                </a:solidFill>
              </a:rPr>
              <a:t>bottom</a:t>
            </a:r>
            <a:r>
              <a:rPr lang="fr-CA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74BCC12-5CA1-4F97-B3B2-AC7D80EA2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663" y="3162724"/>
            <a:ext cx="3664855" cy="244998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C00F09D-AFB7-4F01-B532-352274471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2" y="2856329"/>
            <a:ext cx="4168501" cy="1889924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EDC0CF7-9BC8-4315-A8A5-5D582BB45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82" y="4977696"/>
            <a:ext cx="6538527" cy="967824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DE6B0185-05E0-4514-B445-34AC0365316E}"/>
              </a:ext>
            </a:extLst>
          </p:cNvPr>
          <p:cNvSpPr txBox="1">
            <a:spLocks/>
          </p:cNvSpPr>
          <p:nvPr/>
        </p:nvSpPr>
        <p:spPr>
          <a:xfrm>
            <a:off x="4572819" y="2846487"/>
            <a:ext cx="3532684" cy="1988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000">
                <a:solidFill>
                  <a:srgbClr val="8197B6"/>
                </a:solidFill>
              </a:rPr>
              <a:t>Comme le carré rose ne fait pas partie du flot normal, les autres éléments peuvent « prendre » sa place en haut à gauche.</a:t>
            </a:r>
          </a:p>
        </p:txBody>
      </p:sp>
    </p:spTree>
    <p:extLst>
      <p:ext uri="{BB962C8B-B14F-4D97-AF65-F5344CB8AC3E}">
        <p14:creationId xmlns:p14="http://schemas.microsoft.com/office/powerpoint/2010/main" val="3247359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920ED-9E8B-4AD7-848A-DEF4197F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positionnement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67B7B-1CC9-403F-8957-72CB12C6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position : </a:t>
            </a:r>
            <a:r>
              <a:rPr lang="fr-CA" b="1">
                <a:solidFill>
                  <a:srgbClr val="E351E7"/>
                </a:solidFill>
              </a:rPr>
              <a:t>fixed</a:t>
            </a:r>
          </a:p>
          <a:p>
            <a:pPr lvl="1"/>
            <a:r>
              <a:rPr lang="fr-CA"/>
              <a:t>L’élément quitte le flot normal de la page. Il est toujours situé au même endroit dans le </a:t>
            </a:r>
            <a:r>
              <a:rPr lang="fr-CA" b="1"/>
              <a:t>viewport</a:t>
            </a:r>
            <a:r>
              <a:rPr lang="fr-CA"/>
              <a:t>, </a:t>
            </a:r>
            <a:r>
              <a:rPr lang="fr-CA" b="1"/>
              <a:t>même si on défile la page</a:t>
            </a:r>
            <a:r>
              <a:rPr lang="fr-CA"/>
              <a:t>. Par défaut, il sera dans le coin supérieur gauche. On peut le déplacer avec les règles </a:t>
            </a:r>
            <a:r>
              <a:rPr lang="fr-CA">
                <a:solidFill>
                  <a:srgbClr val="E351E7"/>
                </a:solidFill>
              </a:rPr>
              <a:t>top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left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right</a:t>
            </a:r>
            <a:r>
              <a:rPr lang="fr-CA"/>
              <a:t> et / ou </a:t>
            </a:r>
            <a:r>
              <a:rPr lang="fr-CA">
                <a:solidFill>
                  <a:srgbClr val="E351E7"/>
                </a:solidFill>
              </a:rPr>
              <a:t>bottom</a:t>
            </a:r>
            <a:r>
              <a:rPr lang="fr-CA"/>
              <a:t>.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EDC0CF7-9BC8-4315-A8A5-5D582BB45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2" y="4977696"/>
            <a:ext cx="6538527" cy="967824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DE6B0185-05E0-4514-B445-34AC0365316E}"/>
              </a:ext>
            </a:extLst>
          </p:cNvPr>
          <p:cNvSpPr txBox="1">
            <a:spLocks/>
          </p:cNvSpPr>
          <p:nvPr/>
        </p:nvSpPr>
        <p:spPr>
          <a:xfrm>
            <a:off x="4159380" y="2945464"/>
            <a:ext cx="3545874" cy="2102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000">
                <a:solidFill>
                  <a:srgbClr val="8197B6"/>
                </a:solidFill>
              </a:rPr>
              <a:t>Si on place notre carré rose en haut à gauche, il va partager l’espace avec les autres carrés.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4F2DBCC-4BAA-4C60-A5B2-17906C61C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120" y="3202082"/>
            <a:ext cx="4130398" cy="274343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BAF607A-D5A7-44C1-886A-7EF7B1122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82" y="2945464"/>
            <a:ext cx="3772227" cy="1889924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1864904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920ED-9E8B-4AD7-848A-DEF4197F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positionnement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67B7B-1CC9-403F-8957-72CB12C6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position : </a:t>
            </a:r>
            <a:r>
              <a:rPr lang="fr-CA" b="1">
                <a:solidFill>
                  <a:srgbClr val="E351E7"/>
                </a:solidFill>
              </a:rPr>
              <a:t>absolute</a:t>
            </a:r>
          </a:p>
          <a:p>
            <a:pPr lvl="1"/>
            <a:r>
              <a:rPr lang="fr-CA"/>
              <a:t>Semblable à </a:t>
            </a:r>
            <a:r>
              <a:rPr lang="fr-CA">
                <a:solidFill>
                  <a:srgbClr val="E351E7"/>
                </a:solidFill>
              </a:rPr>
              <a:t>fixed</a:t>
            </a:r>
            <a:r>
              <a:rPr lang="fr-CA"/>
              <a:t>, mais plutôt que d’être positionné relativement au </a:t>
            </a:r>
            <a:r>
              <a:rPr lang="fr-CA" b="1"/>
              <a:t>viewport</a:t>
            </a:r>
            <a:r>
              <a:rPr lang="fr-CA"/>
              <a:t>, l’élément se positionne relativement à son </a:t>
            </a:r>
            <a:r>
              <a:rPr lang="fr-CA" b="1"/>
              <a:t>parent</a:t>
            </a:r>
            <a:r>
              <a:rPr lang="fr-CA"/>
              <a:t> (s’il en a un) à condition que ce parent ne soit pas « </a:t>
            </a:r>
            <a:r>
              <a:rPr lang="fr-CA">
                <a:solidFill>
                  <a:srgbClr val="E351E7"/>
                </a:solidFill>
              </a:rPr>
              <a:t>static</a:t>
            </a:r>
            <a:r>
              <a:rPr lang="fr-CA"/>
              <a:t> ».</a:t>
            </a:r>
          </a:p>
          <a:p>
            <a:pPr lvl="2"/>
            <a:r>
              <a:rPr lang="fr-CA"/>
              <a:t>S’il n’en a pas, il agira comme un élément « </a:t>
            </a:r>
            <a:r>
              <a:rPr lang="fr-CA">
                <a:solidFill>
                  <a:srgbClr val="E351E7"/>
                </a:solidFill>
              </a:rPr>
              <a:t>fixed</a:t>
            </a:r>
            <a:r>
              <a:rPr lang="fr-CA"/>
              <a:t> » et sera relatif au </a:t>
            </a:r>
            <a:r>
              <a:rPr lang="fr-CA" b="1"/>
              <a:t>viewport</a:t>
            </a:r>
            <a:r>
              <a:rPr lang="fr-CA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86EA4C-50D7-4480-8339-1AF85CFDF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123" y="3074468"/>
            <a:ext cx="5768840" cy="124216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A53C27E-C16F-4A6F-A646-FE1C135E1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96" y="3074468"/>
            <a:ext cx="3197320" cy="304371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ED65288-A646-4131-9C97-17690F53B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670" y="3074468"/>
            <a:ext cx="2004234" cy="2225233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A09105B7-7C49-4987-8D90-D21336D3C458}"/>
              </a:ext>
            </a:extLst>
          </p:cNvPr>
          <p:cNvSpPr txBox="1">
            <a:spLocks/>
          </p:cNvSpPr>
          <p:nvPr/>
        </p:nvSpPr>
        <p:spPr>
          <a:xfrm>
            <a:off x="3651593" y="4462923"/>
            <a:ext cx="6081900" cy="1567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000">
                <a:solidFill>
                  <a:srgbClr val="8197B6"/>
                </a:solidFill>
              </a:rPr>
              <a:t>Ici, notre carré rose s’est mis à </a:t>
            </a:r>
            <a:r>
              <a:rPr lang="fr-CA" sz="2000" b="1">
                <a:solidFill>
                  <a:srgbClr val="8197B6"/>
                </a:solidFill>
              </a:rPr>
              <a:t>0 pixels </a:t>
            </a:r>
            <a:r>
              <a:rPr lang="fr-CA" sz="2000">
                <a:solidFill>
                  <a:srgbClr val="8197B6"/>
                </a:solidFill>
              </a:rPr>
              <a:t>du </a:t>
            </a:r>
            <a:r>
              <a:rPr lang="fr-CA" sz="2000">
                <a:solidFill>
                  <a:srgbClr val="E351E7"/>
                </a:solidFill>
              </a:rPr>
              <a:t>bas</a:t>
            </a:r>
            <a:r>
              <a:rPr lang="fr-CA" sz="2000">
                <a:solidFill>
                  <a:srgbClr val="8197B6"/>
                </a:solidFill>
              </a:rPr>
              <a:t> et de la </a:t>
            </a:r>
            <a:r>
              <a:rPr lang="fr-CA" sz="2000">
                <a:solidFill>
                  <a:srgbClr val="E351E7"/>
                </a:solidFill>
              </a:rPr>
              <a:t>droite</a:t>
            </a:r>
            <a:r>
              <a:rPr lang="fr-CA" sz="2000">
                <a:solidFill>
                  <a:srgbClr val="8197B6"/>
                </a:solidFill>
              </a:rPr>
              <a:t> de son parent… qui est le carré rouge.</a:t>
            </a:r>
          </a:p>
        </p:txBody>
      </p:sp>
    </p:spTree>
    <p:extLst>
      <p:ext uri="{BB962C8B-B14F-4D97-AF65-F5344CB8AC3E}">
        <p14:creationId xmlns:p14="http://schemas.microsoft.com/office/powerpoint/2010/main" val="4140590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920ED-9E8B-4AD7-848A-DEF4197F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positionnement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67B7B-1CC9-403F-8957-72CB12C6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position : </a:t>
            </a:r>
            <a:r>
              <a:rPr lang="fr-CA" b="1">
                <a:solidFill>
                  <a:srgbClr val="E351E7"/>
                </a:solidFill>
              </a:rPr>
              <a:t>absolute</a:t>
            </a:r>
          </a:p>
          <a:p>
            <a:pPr lvl="1"/>
            <a:r>
              <a:rPr lang="fr-CA"/>
              <a:t>Semblable à </a:t>
            </a:r>
            <a:r>
              <a:rPr lang="fr-CA">
                <a:solidFill>
                  <a:srgbClr val="E351E7"/>
                </a:solidFill>
              </a:rPr>
              <a:t>fixed</a:t>
            </a:r>
            <a:r>
              <a:rPr lang="fr-CA"/>
              <a:t>, mais plutôt que d’être positionné relativement au </a:t>
            </a:r>
            <a:r>
              <a:rPr lang="fr-CA" b="1"/>
              <a:t>viewport</a:t>
            </a:r>
            <a:r>
              <a:rPr lang="fr-CA"/>
              <a:t>, l’élément se positionne relativement à son </a:t>
            </a:r>
            <a:r>
              <a:rPr lang="fr-CA" b="1"/>
              <a:t>parent</a:t>
            </a:r>
            <a:r>
              <a:rPr lang="fr-CA"/>
              <a:t> (s’il en a un) à condition que ce parent ne soit pas « </a:t>
            </a:r>
            <a:r>
              <a:rPr lang="fr-CA">
                <a:solidFill>
                  <a:srgbClr val="E351E7"/>
                </a:solidFill>
              </a:rPr>
              <a:t>static</a:t>
            </a:r>
            <a:r>
              <a:rPr lang="fr-CA"/>
              <a:t> ».</a:t>
            </a:r>
          </a:p>
          <a:p>
            <a:pPr lvl="2"/>
            <a:r>
              <a:rPr lang="fr-CA"/>
              <a:t>S’il n’en a pas, il agira comme un élément « </a:t>
            </a:r>
            <a:r>
              <a:rPr lang="fr-CA">
                <a:solidFill>
                  <a:srgbClr val="E351E7"/>
                </a:solidFill>
              </a:rPr>
              <a:t>fixed</a:t>
            </a:r>
            <a:r>
              <a:rPr lang="fr-CA"/>
              <a:t> » et sera relatif au </a:t>
            </a:r>
            <a:r>
              <a:rPr lang="fr-CA" b="1"/>
              <a:t>viewport</a:t>
            </a:r>
            <a:r>
              <a:rPr lang="fr-CA"/>
              <a:t>.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A09105B7-7C49-4987-8D90-D21336D3C458}"/>
              </a:ext>
            </a:extLst>
          </p:cNvPr>
          <p:cNvSpPr txBox="1">
            <a:spLocks/>
          </p:cNvSpPr>
          <p:nvPr/>
        </p:nvSpPr>
        <p:spPr>
          <a:xfrm>
            <a:off x="3683768" y="4059821"/>
            <a:ext cx="4290624" cy="1881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000">
                <a:solidFill>
                  <a:srgbClr val="8197B6"/>
                </a:solidFill>
              </a:rPr>
              <a:t>Le carré rouge est redevenu « static » (car on a retiré la règle </a:t>
            </a:r>
            <a:r>
              <a:rPr lang="fr-CA" sz="2000">
                <a:solidFill>
                  <a:srgbClr val="E351E7"/>
                </a:solidFill>
              </a:rPr>
              <a:t>position : relative</a:t>
            </a:r>
            <a:r>
              <a:rPr lang="fr-CA" sz="2000">
                <a:solidFill>
                  <a:srgbClr val="8197B6"/>
                </a:solidFill>
              </a:rPr>
              <a:t>)</a:t>
            </a:r>
          </a:p>
          <a:p>
            <a:r>
              <a:rPr lang="fr-CA" sz="2000">
                <a:solidFill>
                  <a:srgbClr val="8197B6"/>
                </a:solidFill>
              </a:rPr>
              <a:t>Le carré rose est maintenant relatif au </a:t>
            </a:r>
            <a:r>
              <a:rPr lang="fr-CA" sz="2000" b="1">
                <a:solidFill>
                  <a:srgbClr val="8197B6"/>
                </a:solidFill>
              </a:rPr>
              <a:t>viewport</a:t>
            </a:r>
            <a:r>
              <a:rPr lang="fr-CA" sz="2000">
                <a:solidFill>
                  <a:srgbClr val="8197B6"/>
                </a:solidFill>
              </a:rPr>
              <a:t> … même si dans le code HTML il est « dans » le </a:t>
            </a:r>
            <a:r>
              <a:rPr lang="fr-CA" sz="2000">
                <a:solidFill>
                  <a:srgbClr val="E351E7"/>
                </a:solidFill>
              </a:rPr>
              <a:t>div</a:t>
            </a:r>
            <a:r>
              <a:rPr lang="fr-CA" sz="2000">
                <a:solidFill>
                  <a:srgbClr val="8197B6"/>
                </a:solidFill>
              </a:rPr>
              <a:t> rouge.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A1ACE11-434F-4270-903F-E813D05DC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2" y="3074468"/>
            <a:ext cx="3484608" cy="2973051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54E145A-C2E4-408F-B2DA-9B2D1555C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466" y="3074468"/>
            <a:ext cx="3817951" cy="2507197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43BD634-7F2A-4037-B221-A29F73E79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418" y="3074468"/>
            <a:ext cx="3885900" cy="83672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3392404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FC76A7-3320-455E-AC24-5D100E651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positionnement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FCD6C7-75CE-486A-9F2E-09D012F56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Propriété </a:t>
            </a:r>
            <a:r>
              <a:rPr lang="fr-CA" b="1">
                <a:solidFill>
                  <a:srgbClr val="E351E7"/>
                </a:solidFill>
              </a:rPr>
              <a:t>z-index</a:t>
            </a:r>
            <a:r>
              <a:rPr lang="fr-CA"/>
              <a:t> :</a:t>
            </a:r>
          </a:p>
          <a:p>
            <a:pPr lvl="1"/>
            <a:r>
              <a:rPr lang="fr-CA"/>
              <a:t>Quand deux éléments partagent le même espace dans la page… lequel est affiché par-dessus l’autre ?</a:t>
            </a:r>
          </a:p>
          <a:p>
            <a:pPr lvl="1"/>
            <a:endParaRPr lang="fr-CA"/>
          </a:p>
          <a:p>
            <a:pPr lvl="1"/>
            <a:r>
              <a:rPr lang="fr-CA"/>
              <a:t>Par défaut un élément est à </a:t>
            </a:r>
            <a:r>
              <a:rPr lang="fr-CA">
                <a:solidFill>
                  <a:srgbClr val="E351E7"/>
                </a:solidFill>
              </a:rPr>
              <a:t>z-index: </a:t>
            </a:r>
            <a:r>
              <a:rPr lang="fr-CA"/>
              <a:t>0</a:t>
            </a:r>
          </a:p>
          <a:p>
            <a:pPr lvl="2"/>
            <a:r>
              <a:rPr lang="fr-CA"/>
              <a:t>On peut le « reculer » avec </a:t>
            </a:r>
            <a:r>
              <a:rPr lang="fr-CA">
                <a:solidFill>
                  <a:srgbClr val="E351E7"/>
                </a:solidFill>
              </a:rPr>
              <a:t>z-index : -1</a:t>
            </a:r>
          </a:p>
          <a:p>
            <a:pPr lvl="2"/>
            <a:r>
              <a:rPr lang="fr-CA"/>
              <a:t>On peut « l’avancer » avec </a:t>
            </a:r>
            <a:r>
              <a:rPr lang="fr-CA">
                <a:solidFill>
                  <a:srgbClr val="E351E7"/>
                </a:solidFill>
              </a:rPr>
              <a:t>z-index : 1</a:t>
            </a:r>
          </a:p>
          <a:p>
            <a:pPr lvl="2"/>
            <a:r>
              <a:rPr lang="fr-CA"/>
              <a:t> </a:t>
            </a:r>
            <a:r>
              <a:rPr lang="fr-CA">
                <a:solidFill>
                  <a:srgbClr val="E351E7"/>
                </a:solidFill>
              </a:rPr>
              <a:t>-1</a:t>
            </a:r>
            <a:r>
              <a:rPr lang="fr-CA"/>
              <a:t> et </a:t>
            </a:r>
            <a:r>
              <a:rPr lang="fr-CA">
                <a:solidFill>
                  <a:srgbClr val="E351E7"/>
                </a:solidFill>
              </a:rPr>
              <a:t>1</a:t>
            </a:r>
            <a:r>
              <a:rPr lang="fr-CA"/>
              <a:t> sont des exemples. On peut aller </a:t>
            </a:r>
          </a:p>
          <a:p>
            <a:pPr marL="914400" lvl="2" indent="0">
              <a:buNone/>
            </a:pPr>
            <a:r>
              <a:rPr lang="fr-CA"/>
              <a:t>plus loin.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0D0F57C-3AA6-41FB-B137-E25A0189984D}"/>
              </a:ext>
            </a:extLst>
          </p:cNvPr>
          <p:cNvSpPr txBox="1"/>
          <p:nvPr/>
        </p:nvSpPr>
        <p:spPr>
          <a:xfrm>
            <a:off x="4926874" y="1838292"/>
            <a:ext cx="11691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>
                <a:solidFill>
                  <a:srgbClr val="8197B6"/>
                </a:solidFill>
              </a:rPr>
              <a:t>(ง︡'-'︠)ง</a:t>
            </a:r>
            <a:endParaRPr lang="fr-CA" sz="4000" b="1">
              <a:solidFill>
                <a:srgbClr val="8197B6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FF9D416-F211-47F3-9498-25515AEBD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945" y="4419861"/>
            <a:ext cx="2933954" cy="624894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72B24E7-1FBD-4A9B-9DA5-52B6317A9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90" y="4419861"/>
            <a:ext cx="1821338" cy="1691787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9BF8CDC-A4F1-436B-9EBE-65DE21A6D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117" y="2116182"/>
            <a:ext cx="4259683" cy="399546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2000404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0DE806-0996-450E-86D1-AA9A9E597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positionnement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2C0E98-F0B9-460F-9E91-73F2C4DAC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Associez à chaque bloc le type de </a:t>
            </a:r>
            <a:r>
              <a:rPr lang="fr-CA" b="1"/>
              <a:t>position</a:t>
            </a:r>
            <a:r>
              <a:rPr lang="fr-CA"/>
              <a:t> qui explique le plus </a:t>
            </a:r>
            <a:r>
              <a:rPr lang="fr-CA" i="1"/>
              <a:t>simplement</a:t>
            </a:r>
            <a:r>
              <a:rPr lang="fr-CA"/>
              <a:t> son positionnement. (static, fixed, absolute, relative)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6B630A2-C75B-4A6C-A781-8FC1D0AE2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99" y="2025833"/>
            <a:ext cx="3795089" cy="3802710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</p:spTree>
    <p:extLst>
      <p:ext uri="{BB962C8B-B14F-4D97-AF65-F5344CB8AC3E}">
        <p14:creationId xmlns:p14="http://schemas.microsoft.com/office/powerpoint/2010/main" val="18414594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0DE806-0996-450E-86D1-AA9A9E597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positionnement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2C0E98-F0B9-460F-9E91-73F2C4DAC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Associez à chaque bloc le type de </a:t>
            </a:r>
            <a:r>
              <a:rPr lang="fr-CA" b="1"/>
              <a:t>position</a:t>
            </a:r>
            <a:r>
              <a:rPr lang="fr-CA"/>
              <a:t> qui explique le plus </a:t>
            </a:r>
            <a:r>
              <a:rPr lang="fr-CA" i="1"/>
              <a:t>simplement</a:t>
            </a:r>
            <a:r>
              <a:rPr lang="fr-CA"/>
              <a:t> son positionnement. (static, fixed, absolute, relative)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6B630A2-C75B-4A6C-A781-8FC1D0AE2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233" y="2282991"/>
            <a:ext cx="3141009" cy="3147316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984E613-55FD-458A-B345-0A52D82E9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44" y="2317276"/>
            <a:ext cx="4488569" cy="1539373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18D479A-D6FB-4BCC-968F-AC5A8A90E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20" y="4735570"/>
            <a:ext cx="8662185" cy="1389474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</p:spTree>
    <p:extLst>
      <p:ext uri="{BB962C8B-B14F-4D97-AF65-F5344CB8AC3E}">
        <p14:creationId xmlns:p14="http://schemas.microsoft.com/office/powerpoint/2010/main" val="12870368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A004A2-FA02-46ED-A76D-1E593450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Pseudo-classes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6BB694-73C8-4570-9E22-150D121A9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Ce sont des classes qui définissent l’</a:t>
            </a:r>
            <a:r>
              <a:rPr lang="fr-CA" b="1">
                <a:solidFill>
                  <a:srgbClr val="F75A3B"/>
                </a:solidFill>
              </a:rPr>
              <a:t>état</a:t>
            </a:r>
            <a:r>
              <a:rPr lang="fr-CA"/>
              <a:t> d’un </a:t>
            </a:r>
            <a:r>
              <a:rPr lang="fr-CA" b="1"/>
              <a:t>élément</a:t>
            </a:r>
            <a:r>
              <a:rPr lang="fr-CA"/>
              <a:t>.</a:t>
            </a:r>
          </a:p>
          <a:p>
            <a:pPr lvl="1"/>
            <a:r>
              <a:rPr lang="fr-CA"/>
              <a:t>Nous allons en aborder deux :</a:t>
            </a:r>
          </a:p>
          <a:p>
            <a:pPr lvl="2"/>
            <a:r>
              <a:rPr lang="fr-CA"/>
              <a:t>:hover</a:t>
            </a:r>
          </a:p>
          <a:p>
            <a:pPr lvl="2"/>
            <a:r>
              <a:rPr lang="fr-CA"/>
              <a:t>:active</a:t>
            </a:r>
          </a:p>
          <a:p>
            <a:pPr marL="914400" lvl="2" indent="0">
              <a:buNone/>
            </a:pPr>
            <a:endParaRPr lang="fr-CA"/>
          </a:p>
          <a:p>
            <a:pPr lvl="1"/>
            <a:r>
              <a:rPr lang="fr-CA"/>
              <a:t>Pour utiliser une </a:t>
            </a:r>
            <a:r>
              <a:rPr lang="fr-CA" b="1"/>
              <a:t>pseudo-classe</a:t>
            </a:r>
            <a:r>
              <a:rPr lang="fr-CA"/>
              <a:t>, on crée généralement un sélecteur de la forme :</a:t>
            </a:r>
          </a:p>
          <a:p>
            <a:pPr lvl="2"/>
            <a:r>
              <a:rPr lang="fr-CA"/>
              <a:t> </a:t>
            </a:r>
            <a:r>
              <a:rPr lang="fr-CA" b="1">
                <a:solidFill>
                  <a:srgbClr val="F75A3B"/>
                </a:solidFill>
              </a:rPr>
              <a:t>élément</a:t>
            </a:r>
            <a:r>
              <a:rPr lang="fr-CA" b="1">
                <a:solidFill>
                  <a:schemeClr val="tx1"/>
                </a:solidFill>
              </a:rPr>
              <a:t>:</a:t>
            </a:r>
            <a:r>
              <a:rPr lang="fr-CA" b="1">
                <a:solidFill>
                  <a:srgbClr val="F75A3B"/>
                </a:solidFill>
              </a:rPr>
              <a:t>pseudo-classe</a:t>
            </a:r>
          </a:p>
        </p:txBody>
      </p:sp>
    </p:spTree>
    <p:extLst>
      <p:ext uri="{BB962C8B-B14F-4D97-AF65-F5344CB8AC3E}">
        <p14:creationId xmlns:p14="http://schemas.microsoft.com/office/powerpoint/2010/main" val="2095650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A004A2-FA02-46ED-A76D-1E593450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Pseudo-classes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6BB694-73C8-4570-9E22-150D121A9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Pseudo-classe </a:t>
            </a:r>
            <a:r>
              <a:rPr lang="fr-CA" b="1">
                <a:solidFill>
                  <a:srgbClr val="F75A3B"/>
                </a:solidFill>
              </a:rPr>
              <a:t>:hover</a:t>
            </a:r>
          </a:p>
          <a:p>
            <a:pPr lvl="1"/>
            <a:r>
              <a:rPr lang="fr-CA"/>
              <a:t>Permet d’appliquer des règles à un élément </a:t>
            </a:r>
            <a:r>
              <a:rPr lang="fr-CA" b="1"/>
              <a:t>survolé</a:t>
            </a:r>
            <a:r>
              <a:rPr lang="fr-CA"/>
              <a:t> par le curseur.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46BEFF-91F4-4669-BC90-D23F98C20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39" y="4481063"/>
            <a:ext cx="6218459" cy="952583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AD835C4-19DE-4541-843E-F7684BF61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39" y="2680552"/>
            <a:ext cx="5052498" cy="1287892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6B7C8E5-8121-4D9B-ABF0-0CB826971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802" y="2680552"/>
            <a:ext cx="4201634" cy="1287892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1B11A5C-5456-48C4-8B57-3B0307674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1801" y="4209034"/>
            <a:ext cx="4201634" cy="141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655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A004A2-FA02-46ED-A76D-1E593450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Pseudo-classes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6BB694-73C8-4570-9E22-150D121A9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Pseudo-classe </a:t>
            </a:r>
            <a:r>
              <a:rPr lang="fr-CA" b="1">
                <a:solidFill>
                  <a:srgbClr val="F75A3B"/>
                </a:solidFill>
              </a:rPr>
              <a:t>:active</a:t>
            </a:r>
          </a:p>
          <a:p>
            <a:pPr lvl="1"/>
            <a:r>
              <a:rPr lang="fr-CA"/>
              <a:t>Permet d’appliquer des règles à un élément sur lequel on est en train de </a:t>
            </a:r>
            <a:r>
              <a:rPr lang="fr-CA" b="1"/>
              <a:t>cliquer</a:t>
            </a:r>
            <a:r>
              <a:rPr lang="fr-CA"/>
              <a:t>. (Clic enfoncé actuellement)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037087A-BA52-4711-8B94-EB29B7E73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72" y="4875960"/>
            <a:ext cx="6355631" cy="952583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F62B1F5-1F2F-41E1-A45C-DD8E50235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72" y="2560237"/>
            <a:ext cx="5121084" cy="1920406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F374EE1-0923-4400-A355-6198A0375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100" y="2560237"/>
            <a:ext cx="3834807" cy="1580689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9F18FC15-A6FF-4935-80C5-A8A91CCC8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628" y="4330978"/>
            <a:ext cx="3935721" cy="160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8936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582CDB-033F-4B42-9918-4649B9564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Sélecteurs complexes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60326C-08E1-4D71-B06D-AAC53B24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Pour le moment, nous avons vu les sélecteurs suivants :</a:t>
            </a:r>
          </a:p>
          <a:p>
            <a:pPr lvl="1"/>
            <a:r>
              <a:rPr lang="fr-CA"/>
              <a:t>Élément (ex : </a:t>
            </a:r>
            <a:r>
              <a:rPr lang="fr-CA">
                <a:solidFill>
                  <a:srgbClr val="F75A3B"/>
                </a:solidFill>
              </a:rPr>
              <a:t>p</a:t>
            </a:r>
            <a:r>
              <a:rPr lang="fr-CA"/>
              <a:t>)</a:t>
            </a:r>
          </a:p>
          <a:p>
            <a:pPr lvl="1"/>
            <a:r>
              <a:rPr lang="fr-CA"/>
              <a:t>Classe (ex : </a:t>
            </a:r>
            <a:r>
              <a:rPr lang="fr-CA">
                <a:solidFill>
                  <a:srgbClr val="F75A3B"/>
                </a:solidFill>
              </a:rPr>
              <a:t>.ma_classe</a:t>
            </a:r>
            <a:r>
              <a:rPr lang="fr-CA"/>
              <a:t>)</a:t>
            </a:r>
          </a:p>
          <a:p>
            <a:pPr lvl="1"/>
            <a:r>
              <a:rPr lang="fr-CA"/>
              <a:t>ID (ex : </a:t>
            </a:r>
            <a:r>
              <a:rPr lang="fr-CA">
                <a:solidFill>
                  <a:srgbClr val="F75A3B"/>
                </a:solidFill>
              </a:rPr>
              <a:t>#mon_id</a:t>
            </a:r>
            <a:r>
              <a:rPr lang="fr-CA"/>
              <a:t>)</a:t>
            </a:r>
          </a:p>
          <a:p>
            <a:pPr lvl="1"/>
            <a:r>
              <a:rPr lang="fr-CA"/>
              <a:t>Pseudo-classe (ex : </a:t>
            </a:r>
            <a:r>
              <a:rPr lang="fr-CA">
                <a:solidFill>
                  <a:srgbClr val="F75A3B"/>
                </a:solidFill>
              </a:rPr>
              <a:t>:hover</a:t>
            </a:r>
            <a:r>
              <a:rPr lang="fr-CA"/>
              <a:t>)</a:t>
            </a:r>
          </a:p>
          <a:p>
            <a:r>
              <a:rPr lang="fr-CA"/>
              <a:t>Voyons maintenant de nouvelles techniques de sélection :</a:t>
            </a:r>
          </a:p>
          <a:p>
            <a:pPr lvl="1"/>
            <a:r>
              <a:rPr lang="fr-CA"/>
              <a:t>Sélecteur avec « </a:t>
            </a:r>
            <a:r>
              <a:rPr lang="fr-CA">
                <a:solidFill>
                  <a:srgbClr val="F75A3B"/>
                </a:solidFill>
              </a:rPr>
              <a:t>espace</a:t>
            </a:r>
            <a:r>
              <a:rPr lang="fr-CA"/>
              <a:t> » (descendant)</a:t>
            </a:r>
          </a:p>
          <a:p>
            <a:pPr lvl="1"/>
            <a:r>
              <a:rPr lang="fr-CA"/>
              <a:t>Sélecteur avec </a:t>
            </a:r>
            <a:r>
              <a:rPr lang="fr-CA">
                <a:solidFill>
                  <a:srgbClr val="F75A3B"/>
                </a:solidFill>
              </a:rPr>
              <a:t>&gt;</a:t>
            </a:r>
            <a:r>
              <a:rPr lang="fr-CA"/>
              <a:t> (enfant)</a:t>
            </a:r>
          </a:p>
          <a:p>
            <a:pPr lvl="1"/>
            <a:r>
              <a:rPr lang="fr-CA"/>
              <a:t>Sélecteur avec </a:t>
            </a:r>
            <a:r>
              <a:rPr lang="fr-CA">
                <a:solidFill>
                  <a:srgbClr val="F75A3B"/>
                </a:solidFill>
              </a:rPr>
              <a:t>,</a:t>
            </a:r>
            <a:r>
              <a:rPr lang="fr-CA"/>
              <a:t> (combinaison)</a:t>
            </a:r>
          </a:p>
        </p:txBody>
      </p:sp>
    </p:spTree>
    <p:extLst>
      <p:ext uri="{BB962C8B-B14F-4D97-AF65-F5344CB8AC3E}">
        <p14:creationId xmlns:p14="http://schemas.microsoft.com/office/powerpoint/2010/main" val="35608889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75E1A-A969-4B32-B222-387CB51E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Sélecteurs complexes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49533B-9319-42A5-ADA6-554A13D0F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Sélecteur « </a:t>
            </a:r>
            <a:r>
              <a:rPr lang="fr-CA" b="1">
                <a:solidFill>
                  <a:srgbClr val="F75A3B"/>
                </a:solidFill>
              </a:rPr>
              <a:t>espace</a:t>
            </a:r>
            <a:r>
              <a:rPr lang="fr-CA"/>
              <a:t> » (Descendant)</a:t>
            </a:r>
          </a:p>
          <a:p>
            <a:pPr lvl="1"/>
            <a:r>
              <a:rPr lang="fr-CA"/>
              <a:t>Exemple : </a:t>
            </a:r>
            <a:r>
              <a:rPr lang="fr-CA" b="1">
                <a:solidFill>
                  <a:srgbClr val="F75A3B"/>
                </a:solidFill>
              </a:rPr>
              <a:t>div p</a:t>
            </a:r>
          </a:p>
          <a:p>
            <a:pPr lvl="2"/>
            <a:r>
              <a:rPr lang="fr-CA"/>
              <a:t>Ne sélectionne que les </a:t>
            </a:r>
            <a:r>
              <a:rPr lang="fr-CA">
                <a:solidFill>
                  <a:srgbClr val="F75A3B"/>
                </a:solidFill>
              </a:rPr>
              <a:t>p</a:t>
            </a:r>
            <a:r>
              <a:rPr lang="fr-CA"/>
              <a:t> qui sont à l’intérieur d’un </a:t>
            </a:r>
            <a:r>
              <a:rPr lang="fr-CA">
                <a:solidFill>
                  <a:srgbClr val="F75A3B"/>
                </a:solidFill>
              </a:rPr>
              <a:t>div</a:t>
            </a:r>
            <a:r>
              <a:rPr lang="fr-CA"/>
              <a:t>. (Que ce soit son parent direct ou indirect)</a:t>
            </a:r>
          </a:p>
          <a:p>
            <a:pPr lvl="2"/>
            <a:r>
              <a:rPr lang="fr-CA"/>
              <a:t>Ci-dessous, seul le </a:t>
            </a:r>
            <a:r>
              <a:rPr lang="fr-CA">
                <a:solidFill>
                  <a:srgbClr val="F75A3B"/>
                </a:solidFill>
              </a:rPr>
              <a:t>p</a:t>
            </a:r>
            <a:r>
              <a:rPr lang="fr-CA"/>
              <a:t> dans le </a:t>
            </a:r>
            <a:r>
              <a:rPr lang="fr-CA">
                <a:solidFill>
                  <a:srgbClr val="F75A3B"/>
                </a:solidFill>
              </a:rPr>
              <a:t>div</a:t>
            </a:r>
            <a:r>
              <a:rPr lang="fr-CA"/>
              <a:t> a une </a:t>
            </a:r>
            <a:r>
              <a:rPr lang="fr-CA" b="1"/>
              <a:t>bordure</a:t>
            </a:r>
            <a:r>
              <a:rPr lang="fr-CA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B3497B0-3F09-41D3-8791-4367409BD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403" y="4252686"/>
            <a:ext cx="5605437" cy="1868479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F62F5AD-2407-4BF6-BB50-F65257494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403" y="3030729"/>
            <a:ext cx="3932261" cy="937341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65A92F9-932F-4D45-B667-47A7A2694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149" y="2353973"/>
            <a:ext cx="3454886" cy="3767192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</p:spTree>
    <p:extLst>
      <p:ext uri="{BB962C8B-B14F-4D97-AF65-F5344CB8AC3E}">
        <p14:creationId xmlns:p14="http://schemas.microsoft.com/office/powerpoint/2010/main" val="39278344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75E1A-A969-4B32-B222-387CB51E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Sélecteurs complexes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49533B-9319-42A5-ADA6-554A13D0F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Sélecteur &gt; (Enfant)</a:t>
            </a:r>
          </a:p>
          <a:p>
            <a:pPr lvl="1"/>
            <a:r>
              <a:rPr lang="fr-CA"/>
              <a:t>Exemple : </a:t>
            </a:r>
            <a:r>
              <a:rPr lang="fr-CA" b="1">
                <a:solidFill>
                  <a:srgbClr val="F75A3B"/>
                </a:solidFill>
              </a:rPr>
              <a:t>div &gt; p</a:t>
            </a:r>
          </a:p>
          <a:p>
            <a:pPr lvl="2"/>
            <a:r>
              <a:rPr lang="fr-CA"/>
              <a:t>Ne sélectionne que les </a:t>
            </a:r>
            <a:r>
              <a:rPr lang="fr-CA">
                <a:solidFill>
                  <a:srgbClr val="F75A3B"/>
                </a:solidFill>
              </a:rPr>
              <a:t>p</a:t>
            </a:r>
            <a:r>
              <a:rPr lang="fr-CA"/>
              <a:t> qui sont les enfants immédiats d’un </a:t>
            </a:r>
            <a:r>
              <a:rPr lang="fr-CA">
                <a:solidFill>
                  <a:srgbClr val="F75A3B"/>
                </a:solidFill>
              </a:rPr>
              <a:t>div</a:t>
            </a:r>
            <a:r>
              <a:rPr lang="fr-CA"/>
              <a:t>.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AAB51F8-E7CF-4E3A-8AA3-05DB10B50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2" y="3442932"/>
            <a:ext cx="6546669" cy="2618667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69536A0-4CF2-47AB-B02C-E6B1523F6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42" y="2313809"/>
            <a:ext cx="3878916" cy="960203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D4D4FAA-9442-4897-9DAF-D9A6494EC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869" y="2313809"/>
            <a:ext cx="3586015" cy="3747790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5AAF7368-7744-4A11-B7F4-7F117D6A19C4}"/>
              </a:ext>
            </a:extLst>
          </p:cNvPr>
          <p:cNvSpPr txBox="1">
            <a:spLocks/>
          </p:cNvSpPr>
          <p:nvPr/>
        </p:nvSpPr>
        <p:spPr>
          <a:xfrm>
            <a:off x="4471496" y="2271347"/>
            <a:ext cx="2821535" cy="1056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1600">
                <a:solidFill>
                  <a:srgbClr val="81ADB6"/>
                </a:solidFill>
              </a:rPr>
              <a:t>Ici, seul le </a:t>
            </a:r>
            <a:r>
              <a:rPr lang="fr-CA" sz="1600">
                <a:solidFill>
                  <a:srgbClr val="F75A3B"/>
                </a:solidFill>
              </a:rPr>
              <a:t>p</a:t>
            </a:r>
            <a:r>
              <a:rPr lang="fr-CA" sz="1600">
                <a:solidFill>
                  <a:srgbClr val="81ADB6"/>
                </a:solidFill>
              </a:rPr>
              <a:t> directement </a:t>
            </a:r>
            <a:r>
              <a:rPr lang="fr-CA" sz="1600" b="1">
                <a:solidFill>
                  <a:srgbClr val="81ADB6"/>
                </a:solidFill>
              </a:rPr>
              <a:t>enfant</a:t>
            </a:r>
            <a:r>
              <a:rPr lang="fr-CA" sz="1600">
                <a:solidFill>
                  <a:srgbClr val="81ADB6"/>
                </a:solidFill>
              </a:rPr>
              <a:t> du </a:t>
            </a:r>
            <a:r>
              <a:rPr lang="fr-CA" sz="1600">
                <a:solidFill>
                  <a:srgbClr val="F75A3B"/>
                </a:solidFill>
              </a:rPr>
              <a:t>div</a:t>
            </a:r>
            <a:r>
              <a:rPr lang="fr-CA" sz="1600">
                <a:solidFill>
                  <a:srgbClr val="81ADB6"/>
                </a:solidFill>
              </a:rPr>
              <a:t> (donc pas celui dans le </a:t>
            </a:r>
            <a:r>
              <a:rPr lang="fr-CA" sz="1600">
                <a:solidFill>
                  <a:srgbClr val="F75A3B"/>
                </a:solidFill>
              </a:rPr>
              <a:t>main</a:t>
            </a:r>
            <a:r>
              <a:rPr lang="fr-CA" sz="1600">
                <a:solidFill>
                  <a:srgbClr val="81ADB6"/>
                </a:solidFill>
              </a:rPr>
              <a:t>) a obtenu une </a:t>
            </a:r>
            <a:r>
              <a:rPr lang="fr-CA" sz="1600" b="1">
                <a:solidFill>
                  <a:srgbClr val="81ADB6"/>
                </a:solidFill>
              </a:rPr>
              <a:t>bordure</a:t>
            </a:r>
            <a:r>
              <a:rPr lang="fr-CA" sz="1600">
                <a:solidFill>
                  <a:srgbClr val="81ADB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47604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75E1A-A969-4B32-B222-387CB51E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Sélecteurs complexes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49533B-9319-42A5-ADA6-554A13D0F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Sélecteur , (Combinaison)</a:t>
            </a:r>
          </a:p>
          <a:p>
            <a:pPr lvl="1"/>
            <a:r>
              <a:rPr lang="fr-CA"/>
              <a:t>Exemple : </a:t>
            </a:r>
            <a:r>
              <a:rPr lang="fr-CA" b="1">
                <a:solidFill>
                  <a:srgbClr val="F75A3B"/>
                </a:solidFill>
              </a:rPr>
              <a:t>h1, h2, p</a:t>
            </a:r>
          </a:p>
          <a:p>
            <a:pPr lvl="2"/>
            <a:r>
              <a:rPr lang="fr-CA"/>
              <a:t>Sélectionne tous les éléments séparés par des virgules</a:t>
            </a:r>
          </a:p>
          <a:p>
            <a:pPr lvl="2"/>
            <a:endParaRPr lang="fr-CA"/>
          </a:p>
          <a:p>
            <a:pPr lvl="2"/>
            <a:r>
              <a:rPr lang="fr-CA"/>
              <a:t>Ici, tous les éléments </a:t>
            </a:r>
            <a:r>
              <a:rPr lang="fr-CA">
                <a:solidFill>
                  <a:srgbClr val="F75A3B"/>
                </a:solidFill>
              </a:rPr>
              <a:t>h1</a:t>
            </a:r>
            <a:r>
              <a:rPr lang="fr-CA"/>
              <a:t>, </a:t>
            </a:r>
            <a:r>
              <a:rPr lang="fr-CA">
                <a:solidFill>
                  <a:srgbClr val="F75A3B"/>
                </a:solidFill>
              </a:rPr>
              <a:t>h2</a:t>
            </a:r>
            <a:r>
              <a:rPr lang="fr-CA"/>
              <a:t> et </a:t>
            </a:r>
            <a:r>
              <a:rPr lang="fr-CA">
                <a:solidFill>
                  <a:srgbClr val="F75A3B"/>
                </a:solidFill>
              </a:rPr>
              <a:t>p</a:t>
            </a:r>
            <a:r>
              <a:rPr lang="fr-CA"/>
              <a:t> de la page obtiennent le style.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85118F0-C150-45C6-9298-218EB9173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93" y="4777369"/>
            <a:ext cx="6082707" cy="1051174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3333912-4040-41AB-9A47-818949ABB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85" y="3563027"/>
            <a:ext cx="4419983" cy="975445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C0E3CA0-DD47-415D-AC1C-EE4020823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439" y="3549966"/>
            <a:ext cx="4077053" cy="2278577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</p:spTree>
    <p:extLst>
      <p:ext uri="{BB962C8B-B14F-4D97-AF65-F5344CB8AC3E}">
        <p14:creationId xmlns:p14="http://schemas.microsoft.com/office/powerpoint/2010/main" val="184593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9CA661-7B47-4A89-AFF6-10E2835BA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Sélecteurs complexes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95F00A-20C6-4D04-A685-88C0E0F25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9625149" cy="5147506"/>
          </a:xfrm>
        </p:spPr>
        <p:txBody>
          <a:bodyPr/>
          <a:lstStyle/>
          <a:p>
            <a:r>
              <a:rPr lang="fr-CA"/>
              <a:t>Essayez de prédire quels éléments seront affectés par ce style, puis testez dans Visual Studio Code pour avoir la réponse.</a:t>
            </a:r>
          </a:p>
          <a:p>
            <a:pPr lvl="7">
              <a:buFont typeface="Courier New" panose="02070309020205020404" pitchFamily="49" charset="0"/>
              <a:buChar char="o"/>
            </a:pPr>
            <a:r>
              <a:rPr lang="fr-CA">
                <a:solidFill>
                  <a:srgbClr val="B681AE"/>
                </a:solidFill>
              </a:rPr>
              <a:t>Insérez le style dans le </a:t>
            </a:r>
            <a:r>
              <a:rPr lang="fr-CA">
                <a:solidFill>
                  <a:srgbClr val="81ADB6"/>
                </a:solidFill>
              </a:rPr>
              <a:t>head</a:t>
            </a:r>
            <a:r>
              <a:rPr lang="fr-CA">
                <a:solidFill>
                  <a:srgbClr val="B681AE"/>
                </a:solidFill>
              </a:rPr>
              <a:t> (avec </a:t>
            </a:r>
            <a:r>
              <a:rPr lang="fr-CA">
                <a:solidFill>
                  <a:srgbClr val="81ADB6"/>
                </a:solidFill>
              </a:rPr>
              <a:t>&lt;style&gt;</a:t>
            </a:r>
            <a:r>
              <a:rPr lang="fr-CA">
                <a:solidFill>
                  <a:srgbClr val="B681AE"/>
                </a:solidFill>
              </a:rPr>
              <a:t>) et insérez le code HTML dans le </a:t>
            </a:r>
            <a:r>
              <a:rPr lang="fr-CA">
                <a:solidFill>
                  <a:srgbClr val="81ADB6"/>
                </a:solidFill>
              </a:rPr>
              <a:t>body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043F0A-F516-45E9-A056-551434DF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1" y="2101739"/>
            <a:ext cx="3411098" cy="1075168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04B7993-3639-4790-AFF0-057AEFE34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1" y="3319215"/>
            <a:ext cx="11225233" cy="2857748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</p:spTree>
    <p:extLst>
      <p:ext uri="{BB962C8B-B14F-4D97-AF65-F5344CB8AC3E}">
        <p14:creationId xmlns:p14="http://schemas.microsoft.com/office/powerpoint/2010/main" val="3550111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F77C7D-21E3-4796-A20E-ED38305A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Sélecteurs complexes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C95579-0682-44D9-BB7D-0B22FF6C7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Essayez de prédire quels éléments seront affectés par ce style,      puis testez dans Visual Studio Code pour avoir la réponse.</a:t>
            </a:r>
            <a:endParaRPr lang="fr-CA">
              <a:solidFill>
                <a:srgbClr val="81ADB6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D710975-EA83-45E7-B030-64CAA78BA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501" y="3182781"/>
            <a:ext cx="5360797" cy="2994182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6E0AD2D-B72F-48B8-9A71-1BD7E2E54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02" y="3182781"/>
            <a:ext cx="6246432" cy="1590232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45DDD13-6477-409D-9E9A-2D399CB67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036" y="5057629"/>
            <a:ext cx="3411098" cy="1075168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CFC4EC6-137A-45F1-B882-50F79E668C51}"/>
              </a:ext>
            </a:extLst>
          </p:cNvPr>
          <p:cNvCxnSpPr>
            <a:cxnSpLocks/>
          </p:cNvCxnSpPr>
          <p:nvPr/>
        </p:nvCxnSpPr>
        <p:spPr>
          <a:xfrm flipH="1">
            <a:off x="475810" y="3050177"/>
            <a:ext cx="301430" cy="378823"/>
          </a:xfrm>
          <a:prstGeom prst="straightConnector1">
            <a:avLst/>
          </a:prstGeom>
          <a:ln w="38100">
            <a:solidFill>
              <a:srgbClr val="81AD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0F7C784D-E6C4-4EAE-BF9E-337844C7F73E}"/>
              </a:ext>
            </a:extLst>
          </p:cNvPr>
          <p:cNvCxnSpPr>
            <a:cxnSpLocks/>
          </p:cNvCxnSpPr>
          <p:nvPr/>
        </p:nvCxnSpPr>
        <p:spPr>
          <a:xfrm flipH="1">
            <a:off x="2620296" y="3429000"/>
            <a:ext cx="266595" cy="349695"/>
          </a:xfrm>
          <a:prstGeom prst="straightConnector1">
            <a:avLst/>
          </a:prstGeom>
          <a:ln w="38100">
            <a:solidFill>
              <a:srgbClr val="81AD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E9F57BDA-4237-4808-B90A-BC5E88C2D14C}"/>
              </a:ext>
            </a:extLst>
          </p:cNvPr>
          <p:cNvCxnSpPr>
            <a:cxnSpLocks/>
          </p:cNvCxnSpPr>
          <p:nvPr/>
        </p:nvCxnSpPr>
        <p:spPr>
          <a:xfrm flipH="1" flipV="1">
            <a:off x="2468598" y="4420067"/>
            <a:ext cx="266594" cy="259805"/>
          </a:xfrm>
          <a:prstGeom prst="straightConnector1">
            <a:avLst/>
          </a:prstGeom>
          <a:ln w="38100">
            <a:solidFill>
              <a:srgbClr val="81AD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CB13FCAE-B0E7-498F-9B1E-5082559FD3B5}"/>
              </a:ext>
            </a:extLst>
          </p:cNvPr>
          <p:cNvSpPr txBox="1">
            <a:spLocks/>
          </p:cNvSpPr>
          <p:nvPr/>
        </p:nvSpPr>
        <p:spPr>
          <a:xfrm>
            <a:off x="2685316" y="4459338"/>
            <a:ext cx="3853501" cy="360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080B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1800">
                <a:solidFill>
                  <a:srgbClr val="81ADB6"/>
                </a:solidFill>
              </a:rPr>
              <a:t>(lorsque survolé seulement)</a:t>
            </a:r>
          </a:p>
        </p:txBody>
      </p:sp>
    </p:spTree>
    <p:extLst>
      <p:ext uri="{BB962C8B-B14F-4D97-AF65-F5344CB8AC3E}">
        <p14:creationId xmlns:p14="http://schemas.microsoft.com/office/powerpoint/2010/main" val="8290331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C272C5-D5DA-4803-9CCD-AAEBE4FED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Quelques règles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B82DF6-7ECE-41E8-9238-9F9CB69DB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Abordons quelques nouvelles règles CSS pour s’</a:t>
            </a:r>
            <a:r>
              <a:rPr lang="fr-CA" b="1">
                <a:solidFill>
                  <a:srgbClr val="B681AE"/>
                </a:solidFill>
              </a:rPr>
              <a:t>a</a:t>
            </a:r>
            <a:r>
              <a:rPr lang="fr-CA" b="1">
                <a:solidFill>
                  <a:srgbClr val="A785B8"/>
                </a:solidFill>
              </a:rPr>
              <a:t>m</a:t>
            </a:r>
            <a:r>
              <a:rPr lang="fr-CA" b="1">
                <a:solidFill>
                  <a:srgbClr val="7F7FBB"/>
                </a:solidFill>
              </a:rPr>
              <a:t>u</a:t>
            </a:r>
            <a:r>
              <a:rPr lang="fr-CA" b="1">
                <a:solidFill>
                  <a:srgbClr val="8197B6"/>
                </a:solidFill>
              </a:rPr>
              <a:t>s</a:t>
            </a:r>
            <a:r>
              <a:rPr lang="fr-CA" b="1"/>
              <a:t>e</a:t>
            </a:r>
            <a:r>
              <a:rPr lang="fr-CA" b="1">
                <a:solidFill>
                  <a:srgbClr val="67D571"/>
                </a:solidFill>
              </a:rPr>
              <a:t>r</a:t>
            </a:r>
            <a:r>
              <a:rPr lang="fr-CA"/>
              <a:t> un peu avec les boîtes.</a:t>
            </a:r>
          </a:p>
          <a:p>
            <a:pPr lvl="1"/>
            <a:r>
              <a:rPr lang="fr-CA"/>
              <a:t>max-width, min-width, min-height et max-height</a:t>
            </a:r>
          </a:p>
          <a:p>
            <a:pPr lvl="1"/>
            <a:r>
              <a:rPr lang="fr-CA"/>
              <a:t>cursor</a:t>
            </a:r>
          </a:p>
          <a:p>
            <a:pPr lvl="1"/>
            <a:r>
              <a:rPr lang="fr-CA"/>
              <a:t>opacity</a:t>
            </a:r>
          </a:p>
          <a:p>
            <a:pPr lvl="1"/>
            <a:r>
              <a:rPr lang="fr-CA"/>
              <a:t>box-shadow</a:t>
            </a:r>
          </a:p>
          <a:p>
            <a:pPr lvl="1"/>
            <a:r>
              <a:rPr lang="fr-CA"/>
              <a:t>transition</a:t>
            </a:r>
          </a:p>
          <a:p>
            <a:pPr lvl="1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286706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Quelques règles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4F7346-CFAB-4187-82DB-5B25CEFC3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Règles </a:t>
            </a:r>
            <a:r>
              <a:rPr lang="fr-CA" b="1">
                <a:solidFill>
                  <a:srgbClr val="F75A3B"/>
                </a:solidFill>
              </a:rPr>
              <a:t>max-width</a:t>
            </a:r>
            <a:r>
              <a:rPr lang="fr-CA"/>
              <a:t>,</a:t>
            </a:r>
            <a:r>
              <a:rPr lang="fr-CA">
                <a:solidFill>
                  <a:srgbClr val="F75A3B"/>
                </a:solidFill>
              </a:rPr>
              <a:t> </a:t>
            </a:r>
            <a:r>
              <a:rPr lang="fr-CA" b="1">
                <a:solidFill>
                  <a:srgbClr val="F75A3B"/>
                </a:solidFill>
              </a:rPr>
              <a:t>min-width</a:t>
            </a:r>
            <a:r>
              <a:rPr lang="fr-CA"/>
              <a:t>,</a:t>
            </a:r>
            <a:r>
              <a:rPr lang="fr-CA">
                <a:solidFill>
                  <a:srgbClr val="F75A3B"/>
                </a:solidFill>
              </a:rPr>
              <a:t> </a:t>
            </a:r>
            <a:r>
              <a:rPr lang="fr-CA" b="1">
                <a:solidFill>
                  <a:srgbClr val="F75A3B"/>
                </a:solidFill>
              </a:rPr>
              <a:t>max-height</a:t>
            </a:r>
            <a:r>
              <a:rPr lang="fr-CA">
                <a:solidFill>
                  <a:srgbClr val="F75A3B"/>
                </a:solidFill>
              </a:rPr>
              <a:t> </a:t>
            </a:r>
            <a:r>
              <a:rPr lang="fr-CA"/>
              <a:t>et</a:t>
            </a:r>
            <a:r>
              <a:rPr lang="fr-CA">
                <a:solidFill>
                  <a:srgbClr val="F75A3B"/>
                </a:solidFill>
              </a:rPr>
              <a:t> </a:t>
            </a:r>
            <a:r>
              <a:rPr lang="fr-CA" b="1">
                <a:solidFill>
                  <a:srgbClr val="F75A3B"/>
                </a:solidFill>
              </a:rPr>
              <a:t>min-height </a:t>
            </a:r>
            <a:r>
              <a:rPr lang="fr-CA"/>
              <a:t>:</a:t>
            </a:r>
            <a:endParaRPr lang="fr-CA" b="1">
              <a:solidFill>
                <a:srgbClr val="F75A3B"/>
              </a:solidFill>
            </a:endParaRPr>
          </a:p>
          <a:p>
            <a:pPr lvl="1"/>
            <a:r>
              <a:rPr lang="fr-CA"/>
              <a:t> </a:t>
            </a:r>
            <a:r>
              <a:rPr lang="fr-CA">
                <a:solidFill>
                  <a:srgbClr val="F75A3B"/>
                </a:solidFill>
              </a:rPr>
              <a:t>max-width</a:t>
            </a:r>
            <a:r>
              <a:rPr lang="fr-CA"/>
              <a:t> / </a:t>
            </a:r>
            <a:r>
              <a:rPr lang="fr-CA">
                <a:solidFill>
                  <a:srgbClr val="F75A3B"/>
                </a:solidFill>
              </a:rPr>
              <a:t>max-height</a:t>
            </a:r>
            <a:r>
              <a:rPr lang="fr-CA"/>
              <a:t> : Permet de préciser une </a:t>
            </a:r>
            <a:r>
              <a:rPr lang="fr-CA" b="1"/>
              <a:t>largeur</a:t>
            </a:r>
            <a:r>
              <a:rPr lang="fr-CA"/>
              <a:t>/</a:t>
            </a:r>
            <a:r>
              <a:rPr lang="fr-CA" b="1"/>
              <a:t>hauteur</a:t>
            </a:r>
            <a:r>
              <a:rPr lang="fr-CA"/>
              <a:t> </a:t>
            </a:r>
            <a:r>
              <a:rPr lang="fr-CA" b="1"/>
              <a:t>maximale</a:t>
            </a:r>
            <a:r>
              <a:rPr lang="fr-CA"/>
              <a:t> si une boîte a </a:t>
            </a:r>
            <a:r>
              <a:rPr lang="fr-CA" b="1"/>
              <a:t>trop </a:t>
            </a:r>
            <a:r>
              <a:rPr lang="fr-CA"/>
              <a:t>de contenu en </a:t>
            </a:r>
            <a:r>
              <a:rPr lang="fr-CA" b="1"/>
              <a:t>largeur</a:t>
            </a:r>
            <a:r>
              <a:rPr lang="fr-CA"/>
              <a:t>/</a:t>
            </a:r>
            <a:r>
              <a:rPr lang="fr-CA" b="1"/>
              <a:t>hauteur</a:t>
            </a:r>
            <a:r>
              <a:rPr lang="fr-CA"/>
              <a:t>.</a:t>
            </a:r>
          </a:p>
          <a:p>
            <a:pPr lvl="1"/>
            <a:r>
              <a:rPr lang="fr-CA"/>
              <a:t> </a:t>
            </a:r>
            <a:r>
              <a:rPr lang="fr-CA">
                <a:solidFill>
                  <a:srgbClr val="F75A3B"/>
                </a:solidFill>
              </a:rPr>
              <a:t>min-width</a:t>
            </a:r>
            <a:r>
              <a:rPr lang="fr-CA"/>
              <a:t> / </a:t>
            </a:r>
            <a:r>
              <a:rPr lang="fr-CA">
                <a:solidFill>
                  <a:srgbClr val="F75A3B"/>
                </a:solidFill>
              </a:rPr>
              <a:t>min-height</a:t>
            </a:r>
            <a:r>
              <a:rPr lang="fr-CA"/>
              <a:t> : Permet de préciser une </a:t>
            </a:r>
            <a:r>
              <a:rPr lang="fr-CA" b="1"/>
              <a:t>largeur</a:t>
            </a:r>
            <a:r>
              <a:rPr lang="fr-CA"/>
              <a:t>/</a:t>
            </a:r>
            <a:r>
              <a:rPr lang="fr-CA" b="1"/>
              <a:t>hauteur</a:t>
            </a:r>
            <a:r>
              <a:rPr lang="fr-CA"/>
              <a:t> </a:t>
            </a:r>
            <a:r>
              <a:rPr lang="fr-CA" b="1"/>
              <a:t>minimale</a:t>
            </a:r>
            <a:r>
              <a:rPr lang="fr-CA"/>
              <a:t> si une boîte n’a </a:t>
            </a:r>
            <a:r>
              <a:rPr lang="fr-CA" b="1"/>
              <a:t>pas assez </a:t>
            </a:r>
            <a:r>
              <a:rPr lang="fr-CA"/>
              <a:t>de contenu en </a:t>
            </a:r>
            <a:r>
              <a:rPr lang="fr-CA" b="1"/>
              <a:t>largeur</a:t>
            </a:r>
            <a:r>
              <a:rPr lang="fr-CA"/>
              <a:t>/</a:t>
            </a:r>
            <a:r>
              <a:rPr lang="fr-CA" b="1"/>
              <a:t>hauteur</a:t>
            </a:r>
            <a:r>
              <a:rPr lang="fr-CA"/>
              <a:t>.</a:t>
            </a:r>
          </a:p>
          <a:p>
            <a:pPr lvl="1"/>
            <a:r>
              <a:rPr lang="fr-CA" sz="2000"/>
              <a:t>Fonctionne mieux avec un élément </a:t>
            </a:r>
            <a:r>
              <a:rPr lang="fr-CA" sz="2000">
                <a:solidFill>
                  <a:srgbClr val="F75A3B"/>
                </a:solidFill>
              </a:rPr>
              <a:t>inline-block</a:t>
            </a:r>
            <a:r>
              <a:rPr lang="fr-CA" sz="2000"/>
              <a:t>. Avec un élément </a:t>
            </a:r>
            <a:r>
              <a:rPr lang="fr-CA" sz="2000">
                <a:solidFill>
                  <a:srgbClr val="F75A3B"/>
                </a:solidFill>
              </a:rPr>
              <a:t>block</a:t>
            </a:r>
            <a:r>
              <a:rPr lang="fr-CA" sz="2000"/>
              <a:t>, </a:t>
            </a:r>
            <a:r>
              <a:rPr lang="fr-CA" sz="2000">
                <a:solidFill>
                  <a:srgbClr val="F75A3B"/>
                </a:solidFill>
              </a:rPr>
              <a:t>max-width</a:t>
            </a:r>
            <a:r>
              <a:rPr lang="fr-CA" sz="2000"/>
              <a:t> correspondront à la largeur </a:t>
            </a:r>
            <a:r>
              <a:rPr lang="fr-CA" sz="2000" b="1"/>
              <a:t>effective</a:t>
            </a:r>
            <a:r>
              <a:rPr lang="fr-CA" sz="2000"/>
              <a:t>… mais </a:t>
            </a:r>
            <a:r>
              <a:rPr lang="fr-CA" sz="2000">
                <a:solidFill>
                  <a:srgbClr val="F75A3B"/>
                </a:solidFill>
              </a:rPr>
              <a:t>max-height</a:t>
            </a:r>
            <a:r>
              <a:rPr lang="fr-CA" sz="2000"/>
              <a:t> / </a:t>
            </a:r>
            <a:r>
              <a:rPr lang="fr-CA" sz="2000">
                <a:solidFill>
                  <a:srgbClr val="F75A3B"/>
                </a:solidFill>
              </a:rPr>
              <a:t>min-height</a:t>
            </a:r>
            <a:r>
              <a:rPr lang="fr-CA" sz="2000"/>
              <a:t> fonctionneront tel que mentionné ci-dessus.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C61EF5-57F3-460D-B596-83513BC83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37" y="4125975"/>
            <a:ext cx="2581152" cy="1892845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9BF5F1E-DE00-4800-A5BC-AC4143B06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214" y="3725810"/>
            <a:ext cx="3452083" cy="2371387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8297150-3EE6-401F-8929-786D9D75BC14}"/>
              </a:ext>
            </a:extLst>
          </p:cNvPr>
          <p:cNvSpPr txBox="1"/>
          <p:nvPr/>
        </p:nvSpPr>
        <p:spPr>
          <a:xfrm>
            <a:off x="3219994" y="4125975"/>
            <a:ext cx="51402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FFC000"/>
                </a:solidFill>
              </a:rPr>
              <a:t>Boîte jaune</a:t>
            </a:r>
            <a:r>
              <a:rPr lang="fr-CA">
                <a:solidFill>
                  <a:srgbClr val="81ADB6"/>
                </a:solidFill>
              </a:rPr>
              <a:t> : Contenu trop peu large / haut : </a:t>
            </a:r>
            <a:r>
              <a:rPr lang="fr-CA" b="1">
                <a:solidFill>
                  <a:srgbClr val="81ADB6"/>
                </a:solidFill>
              </a:rPr>
              <a:t>min-width</a:t>
            </a:r>
            <a:r>
              <a:rPr lang="fr-CA">
                <a:solidFill>
                  <a:srgbClr val="81ADB6"/>
                </a:solidFill>
              </a:rPr>
              <a:t> et </a:t>
            </a:r>
            <a:r>
              <a:rPr lang="fr-CA" b="1">
                <a:solidFill>
                  <a:srgbClr val="81ADB6"/>
                </a:solidFill>
              </a:rPr>
              <a:t>min-height</a:t>
            </a:r>
            <a:r>
              <a:rPr lang="fr-CA">
                <a:solidFill>
                  <a:srgbClr val="81ADB6"/>
                </a:solidFill>
              </a:rPr>
              <a:t> sont appliqués.</a:t>
            </a:r>
          </a:p>
          <a:p>
            <a:r>
              <a:rPr lang="fr-CA" b="1">
                <a:solidFill>
                  <a:srgbClr val="0070C0"/>
                </a:solidFill>
              </a:rPr>
              <a:t>Boîte bleue </a:t>
            </a:r>
            <a:r>
              <a:rPr lang="fr-CA">
                <a:solidFill>
                  <a:srgbClr val="81ADB6"/>
                </a:solidFill>
              </a:rPr>
              <a:t>: Contenu assez large / haut… mais pas assez pour appliquer max-width et max-height.</a:t>
            </a:r>
          </a:p>
          <a:p>
            <a:r>
              <a:rPr lang="fr-CA" b="1">
                <a:solidFill>
                  <a:srgbClr val="FF0000"/>
                </a:solidFill>
              </a:rPr>
              <a:t>Boîte rouge </a:t>
            </a:r>
            <a:r>
              <a:rPr lang="fr-CA">
                <a:solidFill>
                  <a:srgbClr val="81ADB6"/>
                </a:solidFill>
              </a:rPr>
              <a:t>: Contenu trop grand : </a:t>
            </a:r>
            <a:r>
              <a:rPr lang="fr-CA" b="1">
                <a:solidFill>
                  <a:srgbClr val="81ADB6"/>
                </a:solidFill>
              </a:rPr>
              <a:t>max-width</a:t>
            </a:r>
            <a:r>
              <a:rPr lang="fr-CA">
                <a:solidFill>
                  <a:srgbClr val="81ADB6"/>
                </a:solidFill>
              </a:rPr>
              <a:t> et </a:t>
            </a:r>
            <a:r>
              <a:rPr lang="fr-CA" b="1">
                <a:solidFill>
                  <a:srgbClr val="81ADB6"/>
                </a:solidFill>
              </a:rPr>
              <a:t>max-height</a:t>
            </a:r>
            <a:r>
              <a:rPr lang="fr-CA">
                <a:solidFill>
                  <a:srgbClr val="81ADB6"/>
                </a:solidFill>
              </a:rPr>
              <a:t> sont appliqués.</a:t>
            </a:r>
          </a:p>
        </p:txBody>
      </p:sp>
    </p:spTree>
    <p:extLst>
      <p:ext uri="{BB962C8B-B14F-4D97-AF65-F5344CB8AC3E}">
        <p14:creationId xmlns:p14="http://schemas.microsoft.com/office/powerpoint/2010/main" val="21323618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Quelques règles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4F7346-CFAB-4187-82DB-5B25CEFC3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Règle </a:t>
            </a:r>
            <a:r>
              <a:rPr lang="fr-CA" b="1">
                <a:solidFill>
                  <a:srgbClr val="F75A3B"/>
                </a:solidFill>
              </a:rPr>
              <a:t>cursor</a:t>
            </a:r>
            <a:r>
              <a:rPr lang="fr-CA"/>
              <a:t> :</a:t>
            </a:r>
          </a:p>
          <a:p>
            <a:pPr lvl="1"/>
            <a:r>
              <a:rPr lang="fr-CA"/>
              <a:t>Permet de modifier l’apparence du curseur au survol d’un élément.</a:t>
            </a:r>
          </a:p>
          <a:p>
            <a:pPr lvl="1"/>
            <a:r>
              <a:rPr lang="fr-CA"/>
              <a:t>Liste des valeurs possibles ici : </a:t>
            </a:r>
            <a:r>
              <a:rPr lang="fr-CA">
                <a:hlinkClick r:id="rId2"/>
              </a:rPr>
              <a:t>https://www.w3schools.com/cssref/pr_class_cursor.asp</a:t>
            </a:r>
            <a:endParaRPr lang="fr-CA"/>
          </a:p>
          <a:p>
            <a:pPr lvl="1"/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1B49006-C21F-4244-8911-437564466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773" y="3706561"/>
            <a:ext cx="4702821" cy="1901266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1DF05DC-4E25-4E35-8A6A-3B1A48B5E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494" y="3849404"/>
            <a:ext cx="3665538" cy="1615580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</p:spTree>
    <p:extLst>
      <p:ext uri="{BB962C8B-B14F-4D97-AF65-F5344CB8AC3E}">
        <p14:creationId xmlns:p14="http://schemas.microsoft.com/office/powerpoint/2010/main" val="34224454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Quelques règles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4F7346-CFAB-4187-82DB-5B25CEFC3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6320246" cy="5147506"/>
          </a:xfrm>
        </p:spPr>
        <p:txBody>
          <a:bodyPr/>
          <a:lstStyle/>
          <a:p>
            <a:r>
              <a:rPr lang="fr-CA"/>
              <a:t>Règle </a:t>
            </a:r>
            <a:r>
              <a:rPr lang="fr-CA" b="1">
                <a:solidFill>
                  <a:srgbClr val="F75A3B"/>
                </a:solidFill>
              </a:rPr>
              <a:t>opacity</a:t>
            </a:r>
            <a:r>
              <a:rPr lang="fr-CA"/>
              <a:t> :</a:t>
            </a:r>
          </a:p>
          <a:p>
            <a:pPr lvl="1"/>
            <a:r>
              <a:rPr lang="fr-CA"/>
              <a:t>Change l’</a:t>
            </a:r>
            <a:r>
              <a:rPr lang="fr-CA" b="1"/>
              <a:t>opacité</a:t>
            </a:r>
            <a:r>
              <a:rPr lang="fr-CA"/>
              <a:t> d’un élément.</a:t>
            </a:r>
          </a:p>
          <a:p>
            <a:pPr lvl="1"/>
            <a:r>
              <a:rPr lang="fr-CA"/>
              <a:t>Par exemple, ici, au survol du </a:t>
            </a:r>
            <a:r>
              <a:rPr lang="fr-CA" b="1"/>
              <a:t>div</a:t>
            </a:r>
            <a:r>
              <a:rPr lang="fr-CA"/>
              <a:t>, l’</a:t>
            </a:r>
            <a:r>
              <a:rPr lang="fr-CA" b="1"/>
              <a:t>opacité</a:t>
            </a:r>
            <a:r>
              <a:rPr lang="fr-CA"/>
              <a:t> de tout le </a:t>
            </a:r>
            <a:r>
              <a:rPr lang="fr-CA" b="1"/>
              <a:t>div</a:t>
            </a:r>
            <a:r>
              <a:rPr lang="fr-CA"/>
              <a:t> et son contenu passe à </a:t>
            </a:r>
            <a:r>
              <a:rPr lang="fr-CA" b="1"/>
              <a:t>50%</a:t>
            </a:r>
            <a:r>
              <a:rPr lang="fr-CA"/>
              <a:t>, ce qui laisse entrevoir l’image de fond.</a:t>
            </a:r>
          </a:p>
          <a:p>
            <a:pPr marL="457200" lvl="1" indent="0">
              <a:buNone/>
            </a:pPr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0579191-F8C5-4DC4-A232-15AFF6DD0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837" y="1029457"/>
            <a:ext cx="4432200" cy="1895231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7D01A07-1CF0-4689-86A8-28B69BF22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280" y="4032501"/>
            <a:ext cx="4433757" cy="2016432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3502FF2-2A5F-46AD-884B-25D1F614D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382" y="3540968"/>
            <a:ext cx="2255715" cy="983065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</p:spTree>
    <p:extLst>
      <p:ext uri="{BB962C8B-B14F-4D97-AF65-F5344CB8AC3E}">
        <p14:creationId xmlns:p14="http://schemas.microsoft.com/office/powerpoint/2010/main" val="34575843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Quelques règles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4F7346-CFAB-4187-82DB-5B25CEFC3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Règle </a:t>
            </a:r>
            <a:r>
              <a:rPr lang="fr-CA" b="1">
                <a:solidFill>
                  <a:srgbClr val="F75A3B"/>
                </a:solidFill>
              </a:rPr>
              <a:t>box-shadow</a:t>
            </a:r>
            <a:r>
              <a:rPr lang="fr-CA"/>
              <a:t> :</a:t>
            </a:r>
          </a:p>
          <a:p>
            <a:pPr lvl="1"/>
            <a:r>
              <a:rPr lang="fr-CA"/>
              <a:t>Permet d’ajouter une « </a:t>
            </a:r>
            <a:r>
              <a:rPr lang="fr-CA" b="1"/>
              <a:t>ombre</a:t>
            </a:r>
            <a:r>
              <a:rPr lang="fr-CA"/>
              <a:t> » derrière un élément.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AF4B92-D174-4422-8571-5110DE059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16" y="3197065"/>
            <a:ext cx="3856054" cy="1600339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CCDA831-771B-4C07-821B-FE7C1CA24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454" y="2892776"/>
            <a:ext cx="5113463" cy="2339543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</p:spTree>
    <p:extLst>
      <p:ext uri="{BB962C8B-B14F-4D97-AF65-F5344CB8AC3E}">
        <p14:creationId xmlns:p14="http://schemas.microsoft.com/office/powerpoint/2010/main" val="10344028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Quelques règles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4F7346-CFAB-4187-82DB-5B25CEFC3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Règle </a:t>
            </a:r>
            <a:r>
              <a:rPr lang="fr-CA" b="1">
                <a:solidFill>
                  <a:srgbClr val="F75A3B"/>
                </a:solidFill>
              </a:rPr>
              <a:t>box-shadow</a:t>
            </a:r>
            <a:r>
              <a:rPr lang="fr-CA"/>
              <a:t> :</a:t>
            </a:r>
          </a:p>
          <a:p>
            <a:pPr lvl="1"/>
            <a:r>
              <a:rPr lang="fr-CA"/>
              <a:t>Permet d’ajouter une « </a:t>
            </a:r>
            <a:r>
              <a:rPr lang="fr-CA" b="1"/>
              <a:t>ombre</a:t>
            </a:r>
            <a:r>
              <a:rPr lang="fr-CA"/>
              <a:t> » derrière un élément.</a:t>
            </a:r>
          </a:p>
          <a:p>
            <a:pPr lvl="1"/>
            <a:r>
              <a:rPr lang="fr-CA"/>
              <a:t>Les valeurs peuvent être plutôt sophistiquées…</a:t>
            </a:r>
          </a:p>
          <a:p>
            <a:pPr lvl="1"/>
            <a:endParaRPr lang="fr-CA"/>
          </a:p>
          <a:p>
            <a:pPr lvl="1"/>
            <a:r>
              <a:rPr lang="fr-CA" sz="1600" b="1">
                <a:latin typeface="Courier New" panose="02070309020205020404" pitchFamily="49" charset="0"/>
                <a:cs typeface="Courier New" panose="02070309020205020404" pitchFamily="49" charset="0"/>
              </a:rPr>
              <a:t>box-shadow</a:t>
            </a:r>
            <a:r>
              <a:rPr lang="fr-CA" sz="160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fr-CA" sz="1600" b="1">
                <a:solidFill>
                  <a:srgbClr val="F75A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décalage-horizontal</a:t>
            </a:r>
            <a:r>
              <a:rPr lang="fr-CA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600" b="1">
                <a:solidFill>
                  <a:srgbClr val="DDAB5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décalage-vertical</a:t>
            </a:r>
            <a:r>
              <a:rPr lang="fr-CA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600" b="1">
                <a:solidFill>
                  <a:srgbClr val="F75A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flou</a:t>
            </a:r>
            <a:r>
              <a:rPr lang="fr-CA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600" b="1">
                <a:solidFill>
                  <a:srgbClr val="DDAB5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diffusion</a:t>
            </a:r>
            <a:r>
              <a:rPr lang="fr-CA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600" b="1">
                <a:solidFill>
                  <a:srgbClr val="F75A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couleur</a:t>
            </a:r>
          </a:p>
          <a:p>
            <a:pPr lvl="2"/>
            <a:r>
              <a:rPr lang="fr-CA"/>
              <a:t>Seuls le décalage horizontal et le décalage vertical sont obligatoires.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C7A29F1-FCE9-4BDE-87F4-13656FD36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73" y="3499649"/>
            <a:ext cx="5349704" cy="2484335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11104D9-A51B-4436-A343-F9F036D5F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23" y="4149021"/>
            <a:ext cx="5580873" cy="1321786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</p:spTree>
    <p:extLst>
      <p:ext uri="{BB962C8B-B14F-4D97-AF65-F5344CB8AC3E}">
        <p14:creationId xmlns:p14="http://schemas.microsoft.com/office/powerpoint/2010/main" val="1092845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Quelques règles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4F7346-CFAB-4187-82DB-5B25CEFC3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Règle </a:t>
            </a:r>
            <a:r>
              <a:rPr lang="fr-CA" b="1">
                <a:solidFill>
                  <a:srgbClr val="F75A3B"/>
                </a:solidFill>
              </a:rPr>
              <a:t>transition</a:t>
            </a:r>
            <a:r>
              <a:rPr lang="fr-CA"/>
              <a:t> :</a:t>
            </a:r>
          </a:p>
          <a:p>
            <a:pPr lvl="1"/>
            <a:r>
              <a:rPr lang="fr-CA"/>
              <a:t>Permet de créer des animations lors d’un changement de propriétés CSS.</a:t>
            </a:r>
          </a:p>
          <a:p>
            <a:pPr lvl="1"/>
            <a:r>
              <a:rPr lang="fr-CA"/>
              <a:t>Fonctionnement :</a:t>
            </a:r>
          </a:p>
          <a:p>
            <a:pPr lvl="2"/>
            <a:r>
              <a:rPr lang="fr-CA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600" b="1">
                <a:solidFill>
                  <a:srgbClr val="F75A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transition</a:t>
            </a:r>
            <a:r>
              <a:rPr lang="fr-CA" sz="1600" b="1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fr-CA" sz="1600" b="1">
                <a:solidFill>
                  <a:srgbClr val="DDAB5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propriété</a:t>
            </a:r>
            <a:r>
              <a:rPr lang="fr-CA" sz="1600" b="1">
                <a:latin typeface="Courier New" panose="02070309020205020404" pitchFamily="49" charset="0"/>
                <a:cs typeface="Courier New" panose="02070309020205020404" pitchFamily="49" charset="0"/>
              </a:rPr>
              <a:t> temps, </a:t>
            </a:r>
            <a:r>
              <a:rPr lang="fr-CA" sz="1600" b="1">
                <a:solidFill>
                  <a:srgbClr val="DDAB5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propriété</a:t>
            </a:r>
            <a:r>
              <a:rPr lang="fr-CA" sz="1600" b="1">
                <a:latin typeface="Courier New" panose="02070309020205020404" pitchFamily="49" charset="0"/>
                <a:cs typeface="Courier New" panose="02070309020205020404" pitchFamily="49" charset="0"/>
              </a:rPr>
              <a:t> temps, </a:t>
            </a:r>
            <a:r>
              <a:rPr lang="fr-CA" sz="1600" b="1">
                <a:solidFill>
                  <a:srgbClr val="DDAB5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propriété</a:t>
            </a:r>
            <a:r>
              <a:rPr lang="fr-CA" sz="1600" b="1">
                <a:latin typeface="Courier New" panose="02070309020205020404" pitchFamily="49" charset="0"/>
                <a:cs typeface="Courier New" panose="02070309020205020404" pitchFamily="49" charset="0"/>
              </a:rPr>
              <a:t> temps, … ;</a:t>
            </a:r>
          </a:p>
          <a:p>
            <a:pPr lvl="2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52BD9A6-3368-49C0-9979-6D615A6E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43" y="2729378"/>
            <a:ext cx="5437165" cy="3444387"/>
          </a:xfrm>
          <a:prstGeom prst="rect">
            <a:avLst/>
          </a:prstGeom>
          <a:ln w="38100">
            <a:solidFill>
              <a:srgbClr val="81AD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8F20F32-DB24-4B88-B8A9-FE99674CB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60679"/>
            <a:ext cx="2019475" cy="201185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7139FB5-0772-41EB-A124-DD00960AA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181" y="4087676"/>
            <a:ext cx="2011854" cy="204995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D0435DF-1FBB-4900-8892-046BC9625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932" y="2717512"/>
            <a:ext cx="795288" cy="798359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A9A52800-9B8E-4805-B59F-34A333E9D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844" y="2627710"/>
            <a:ext cx="795288" cy="801290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0A7483C2-E41F-4DA9-AA44-98F58D5AD1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197" y="3376353"/>
            <a:ext cx="2652420" cy="848268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AC25147C-070B-4705-892A-3CE7C40997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5306" y="2957048"/>
            <a:ext cx="798289" cy="80129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4BDF7D7-0BED-46E1-957A-E7E9EAE82C2A}"/>
              </a:ext>
            </a:extLst>
          </p:cNvPr>
          <p:cNvSpPr/>
          <p:nvPr/>
        </p:nvSpPr>
        <p:spPr>
          <a:xfrm>
            <a:off x="4794075" y="6008917"/>
            <a:ext cx="210563" cy="125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AB383D-56A8-412F-80CB-18308FE46C2E}"/>
              </a:ext>
            </a:extLst>
          </p:cNvPr>
          <p:cNvSpPr/>
          <p:nvPr/>
        </p:nvSpPr>
        <p:spPr>
          <a:xfrm>
            <a:off x="732918" y="3758338"/>
            <a:ext cx="2683019" cy="32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311315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Priorité en CSS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D475CD-64F2-4C66-9AD8-987B7F252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Au premier cours, nous avions vu la règle sommaire suivante pour la priorité des règles en CSS :</a:t>
            </a:r>
          </a:p>
          <a:p>
            <a:pPr lvl="1"/>
            <a:r>
              <a:rPr lang="fr-CA">
                <a:solidFill>
                  <a:srgbClr val="B681AE"/>
                </a:solidFill>
              </a:rPr>
              <a:t> </a:t>
            </a:r>
            <a:r>
              <a:rPr lang="fr-CA" b="1">
                <a:solidFill>
                  <a:srgbClr val="81ADB6"/>
                </a:solidFill>
              </a:rPr>
              <a:t>CSS intraligne</a:t>
            </a:r>
            <a:r>
              <a:rPr lang="fr-CA"/>
              <a:t> &gt; </a:t>
            </a:r>
            <a:r>
              <a:rPr lang="fr-CA" b="1">
                <a:solidFill>
                  <a:srgbClr val="8197B6"/>
                </a:solidFill>
              </a:rPr>
              <a:t>ID</a:t>
            </a:r>
            <a:r>
              <a:rPr lang="fr-CA"/>
              <a:t> &gt; </a:t>
            </a:r>
            <a:r>
              <a:rPr lang="fr-CA" b="1">
                <a:solidFill>
                  <a:srgbClr val="7F7FBB"/>
                </a:solidFill>
              </a:rPr>
              <a:t>Classe</a:t>
            </a:r>
            <a:r>
              <a:rPr lang="fr-CA"/>
              <a:t> &gt; </a:t>
            </a:r>
            <a:r>
              <a:rPr lang="fr-CA" b="1"/>
              <a:t>Sélecteur élément</a:t>
            </a:r>
          </a:p>
          <a:p>
            <a:pPr lvl="2"/>
            <a:r>
              <a:rPr lang="fr-CA"/>
              <a:t>Le CSS intraligne ayant la plus grande priorité et les sélecteurs éléments ayant la plus faible.</a:t>
            </a:r>
          </a:p>
          <a:p>
            <a:pPr lvl="2"/>
            <a:endParaRPr lang="fr-CA"/>
          </a:p>
          <a:p>
            <a:r>
              <a:rPr lang="fr-CA"/>
              <a:t>La réalité… est bien plus </a:t>
            </a:r>
            <a:r>
              <a:rPr lang="fr-CA" i="1"/>
              <a:t>effrayante</a:t>
            </a:r>
            <a:r>
              <a:rPr lang="fr-CA"/>
              <a:t>.</a:t>
            </a:r>
          </a:p>
          <a:p>
            <a:pPr lvl="1"/>
            <a:r>
              <a:rPr lang="fr-CA" sz="2000"/>
              <a:t> </a:t>
            </a:r>
            <a:r>
              <a:rPr lang="fr-CA" sz="2000" b="1">
                <a:solidFill>
                  <a:srgbClr val="81ADB6"/>
                </a:solidFill>
              </a:rPr>
              <a:t>CSS intraligne</a:t>
            </a:r>
            <a:r>
              <a:rPr lang="fr-CA" sz="2000"/>
              <a:t> &gt; </a:t>
            </a:r>
            <a:r>
              <a:rPr lang="fr-CA" sz="2000" b="1">
                <a:solidFill>
                  <a:srgbClr val="8197B6"/>
                </a:solidFill>
              </a:rPr>
              <a:t>ID</a:t>
            </a:r>
            <a:r>
              <a:rPr lang="fr-CA" sz="2000"/>
              <a:t> &gt; </a:t>
            </a:r>
            <a:r>
              <a:rPr lang="fr-CA" sz="2000" b="1">
                <a:solidFill>
                  <a:srgbClr val="7F7FBB"/>
                </a:solidFill>
              </a:rPr>
              <a:t>Classe, attributs, pseudo-classes</a:t>
            </a:r>
            <a:r>
              <a:rPr lang="fr-CA" sz="2000"/>
              <a:t> &gt; </a:t>
            </a:r>
            <a:r>
              <a:rPr lang="fr-CA" sz="2000" b="1"/>
              <a:t>Éléments, pseudo-éléments</a:t>
            </a:r>
          </a:p>
          <a:p>
            <a:pPr lvl="2"/>
            <a:r>
              <a:rPr lang="fr-CA" sz="1600"/>
              <a:t>Nous allons découvrir ce que « </a:t>
            </a:r>
            <a:r>
              <a:rPr lang="fr-CA" sz="1600" b="1"/>
              <a:t>attributs</a:t>
            </a:r>
            <a:r>
              <a:rPr lang="fr-CA" sz="1600"/>
              <a:t> » et « </a:t>
            </a:r>
            <a:r>
              <a:rPr lang="fr-CA" sz="1600" b="1"/>
              <a:t>pseudo-éléments</a:t>
            </a:r>
            <a:r>
              <a:rPr lang="fr-CA" sz="1600"/>
              <a:t> » veulent dire.</a:t>
            </a:r>
          </a:p>
          <a:p>
            <a:pPr lvl="1"/>
            <a:r>
              <a:rPr lang="fr-CA" sz="2000"/>
              <a:t>En cas d’égalité : la « </a:t>
            </a:r>
            <a:r>
              <a:rPr lang="fr-CA" sz="2000" b="1"/>
              <a:t>dernière</a:t>
            </a:r>
            <a:r>
              <a:rPr lang="fr-CA" sz="2000"/>
              <a:t> » règle gagne.</a:t>
            </a:r>
          </a:p>
          <a:p>
            <a:pPr lvl="1"/>
            <a:r>
              <a:rPr lang="fr-CA" sz="2000"/>
              <a:t>CSS externe VS CSS interne (dans &lt;style&gt;) : le </a:t>
            </a:r>
            <a:r>
              <a:rPr lang="fr-CA" sz="2000" b="1"/>
              <a:t>dernier </a:t>
            </a:r>
            <a:r>
              <a:rPr lang="fr-CA" sz="2000"/>
              <a:t>gagne.</a:t>
            </a:r>
          </a:p>
        </p:txBody>
      </p:sp>
    </p:spTree>
    <p:extLst>
      <p:ext uri="{BB962C8B-B14F-4D97-AF65-F5344CB8AC3E}">
        <p14:creationId xmlns:p14="http://schemas.microsoft.com/office/powerpoint/2010/main" val="35551982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Priorité en CSS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D475CD-64F2-4C66-9AD8-987B7F252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sz="2800" b="1"/>
              <a:t> </a:t>
            </a:r>
            <a:r>
              <a:rPr lang="fr-CA" sz="2800" b="1">
                <a:solidFill>
                  <a:srgbClr val="81ADB6"/>
                </a:solidFill>
              </a:rPr>
              <a:t>CSS intraligne</a:t>
            </a:r>
            <a:r>
              <a:rPr lang="fr-CA" sz="2800"/>
              <a:t> &gt; </a:t>
            </a:r>
            <a:r>
              <a:rPr lang="fr-CA" sz="2800" b="1">
                <a:solidFill>
                  <a:srgbClr val="8197B6"/>
                </a:solidFill>
              </a:rPr>
              <a:t>ID</a:t>
            </a:r>
            <a:r>
              <a:rPr lang="fr-CA" sz="2800"/>
              <a:t> &gt; </a:t>
            </a:r>
            <a:r>
              <a:rPr lang="fr-CA" sz="2800" b="1">
                <a:solidFill>
                  <a:srgbClr val="7F7FBB"/>
                </a:solidFill>
              </a:rPr>
              <a:t>Classe, </a:t>
            </a:r>
            <a:r>
              <a:rPr lang="fr-CA" sz="2800" b="1">
                <a:solidFill>
                  <a:srgbClr val="F75A3B"/>
                </a:solidFill>
              </a:rPr>
              <a:t>attributs</a:t>
            </a:r>
            <a:r>
              <a:rPr lang="fr-CA" sz="2800" b="1">
                <a:solidFill>
                  <a:srgbClr val="7F7FBB"/>
                </a:solidFill>
              </a:rPr>
              <a:t>, pseudo-classes</a:t>
            </a:r>
            <a:r>
              <a:rPr lang="fr-CA" sz="2800"/>
              <a:t> &gt; </a:t>
            </a:r>
            <a:r>
              <a:rPr lang="fr-CA" sz="2800" b="1"/>
              <a:t>Éléments, pseudo-éléments</a:t>
            </a:r>
          </a:p>
          <a:p>
            <a:pPr lvl="1"/>
            <a:r>
              <a:rPr lang="fr-CA"/>
              <a:t>C’est quoi un </a:t>
            </a:r>
            <a:r>
              <a:rPr lang="fr-CA" b="1">
                <a:solidFill>
                  <a:srgbClr val="F75A3B"/>
                </a:solidFill>
              </a:rPr>
              <a:t>sélecteur attribut</a:t>
            </a:r>
            <a:r>
              <a:rPr lang="fr-CA"/>
              <a:t> ?</a:t>
            </a:r>
          </a:p>
          <a:p>
            <a:pPr lvl="2"/>
            <a:r>
              <a:rPr lang="fr-CA"/>
              <a:t>Syntaxe : sélecteur[attribut="valeur"]</a:t>
            </a:r>
          </a:p>
          <a:p>
            <a:pPr lvl="1"/>
            <a:r>
              <a:rPr lang="fr-CA"/>
              <a:t>Exemple : </a:t>
            </a:r>
            <a:r>
              <a:rPr lang="fr-CA">
                <a:solidFill>
                  <a:srgbClr val="81ADB6"/>
                </a:solidFill>
              </a:rPr>
              <a:t>a</a:t>
            </a:r>
            <a:r>
              <a:rPr lang="fr-CA">
                <a:solidFill>
                  <a:srgbClr val="F75A3B"/>
                </a:solidFill>
              </a:rPr>
              <a:t>[target="blank"]</a:t>
            </a:r>
          </a:p>
          <a:p>
            <a:pPr lvl="2"/>
            <a:r>
              <a:rPr lang="fr-CA"/>
              <a:t>Sélectionne seulement les éléments </a:t>
            </a:r>
            <a:r>
              <a:rPr lang="fr-CA">
                <a:solidFill>
                  <a:srgbClr val="81ADB6"/>
                </a:solidFill>
              </a:rPr>
              <a:t>&lt;a&gt;</a:t>
            </a:r>
            <a:r>
              <a:rPr lang="fr-CA"/>
              <a:t> s’ils ont l’attribut </a:t>
            </a:r>
            <a:r>
              <a:rPr lang="fr-CA">
                <a:solidFill>
                  <a:srgbClr val="F75A3B"/>
                </a:solidFill>
              </a:rPr>
              <a:t>target</a:t>
            </a:r>
            <a:r>
              <a:rPr lang="fr-CA"/>
              <a:t> avec la valeur </a:t>
            </a:r>
            <a:r>
              <a:rPr lang="fr-CA">
                <a:solidFill>
                  <a:srgbClr val="F75A3B"/>
                </a:solidFill>
              </a:rPr>
              <a:t>blank</a:t>
            </a:r>
            <a:r>
              <a:rPr lang="fr-CA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40661B-B06C-4BA6-BC9F-167991707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76" y="3603210"/>
            <a:ext cx="6317527" cy="975445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D12D03B-0215-4C7F-8157-04DF039C2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42" y="4809483"/>
            <a:ext cx="3878916" cy="1219306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7EB00D5-7CF8-4B22-9EA1-3BF34E252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376" y="3638533"/>
            <a:ext cx="2724796" cy="2341900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CA4A43F-7FFA-47EE-B61F-17E87EF92B78}"/>
              </a:ext>
            </a:extLst>
          </p:cNvPr>
          <p:cNvSpPr txBox="1"/>
          <p:nvPr/>
        </p:nvSpPr>
        <p:spPr>
          <a:xfrm>
            <a:off x="0" y="6042755"/>
            <a:ext cx="600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hlinkClick r:id="rId5"/>
              </a:rPr>
              <a:t>https://www.w3schools.com/css/css_attribute_selectors.asp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5061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Priorité en CSS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D475CD-64F2-4C66-9AD8-987B7F252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sz="2800" b="1"/>
              <a:t> </a:t>
            </a:r>
            <a:r>
              <a:rPr lang="fr-CA" sz="2800" b="1">
                <a:solidFill>
                  <a:srgbClr val="81ADB6"/>
                </a:solidFill>
              </a:rPr>
              <a:t>CSS intraligne</a:t>
            </a:r>
            <a:r>
              <a:rPr lang="fr-CA" sz="2800"/>
              <a:t> &gt; </a:t>
            </a:r>
            <a:r>
              <a:rPr lang="fr-CA" sz="2800" b="1">
                <a:solidFill>
                  <a:srgbClr val="8197B6"/>
                </a:solidFill>
              </a:rPr>
              <a:t>ID</a:t>
            </a:r>
            <a:r>
              <a:rPr lang="fr-CA" sz="2800"/>
              <a:t> &gt; </a:t>
            </a:r>
            <a:r>
              <a:rPr lang="fr-CA" sz="2800" b="1">
                <a:solidFill>
                  <a:srgbClr val="7F7FBB"/>
                </a:solidFill>
              </a:rPr>
              <a:t>Classe, </a:t>
            </a:r>
            <a:r>
              <a:rPr lang="fr-CA" sz="2800" b="1">
                <a:solidFill>
                  <a:srgbClr val="F75A3B"/>
                </a:solidFill>
              </a:rPr>
              <a:t>attributs</a:t>
            </a:r>
            <a:r>
              <a:rPr lang="fr-CA" sz="2800" b="1">
                <a:solidFill>
                  <a:srgbClr val="7F7FBB"/>
                </a:solidFill>
              </a:rPr>
              <a:t>, pseudo-classes</a:t>
            </a:r>
            <a:r>
              <a:rPr lang="fr-CA" sz="2800"/>
              <a:t> &gt; </a:t>
            </a:r>
            <a:r>
              <a:rPr lang="fr-CA" sz="2800" b="1"/>
              <a:t>Éléments, pseudo-éléments</a:t>
            </a:r>
          </a:p>
          <a:p>
            <a:pPr lvl="1"/>
            <a:r>
              <a:rPr lang="fr-CA"/>
              <a:t>C’est quoi un </a:t>
            </a:r>
            <a:r>
              <a:rPr lang="fr-CA" b="1">
                <a:solidFill>
                  <a:srgbClr val="F75A3B"/>
                </a:solidFill>
              </a:rPr>
              <a:t>sélecteur attribut</a:t>
            </a:r>
            <a:r>
              <a:rPr lang="fr-CA"/>
              <a:t> ?</a:t>
            </a:r>
          </a:p>
          <a:p>
            <a:pPr lvl="2"/>
            <a:r>
              <a:rPr lang="fr-CA"/>
              <a:t>Syntaxe : sélecteur[attribut] </a:t>
            </a:r>
            <a:r>
              <a:rPr lang="fr-CA" b="1"/>
              <a:t>(Une autre forme possible !)</a:t>
            </a:r>
          </a:p>
          <a:p>
            <a:pPr lvl="1"/>
            <a:r>
              <a:rPr lang="fr-CA"/>
              <a:t>Exemple : </a:t>
            </a:r>
            <a:r>
              <a:rPr lang="fr-CA">
                <a:solidFill>
                  <a:srgbClr val="81ADB6"/>
                </a:solidFill>
              </a:rPr>
              <a:t>a</a:t>
            </a:r>
            <a:r>
              <a:rPr lang="fr-CA">
                <a:solidFill>
                  <a:srgbClr val="F75A3B"/>
                </a:solidFill>
              </a:rPr>
              <a:t>[class]</a:t>
            </a:r>
          </a:p>
          <a:p>
            <a:pPr lvl="2"/>
            <a:r>
              <a:rPr lang="fr-CA"/>
              <a:t>Sélectionne seulement les éléments </a:t>
            </a:r>
            <a:r>
              <a:rPr lang="fr-CA">
                <a:solidFill>
                  <a:srgbClr val="81ADB6"/>
                </a:solidFill>
              </a:rPr>
              <a:t>&lt;a&gt;</a:t>
            </a:r>
            <a:r>
              <a:rPr lang="fr-CA"/>
              <a:t> s’ils ont une </a:t>
            </a:r>
            <a:r>
              <a:rPr lang="fr-CA" b="1"/>
              <a:t>classe</a:t>
            </a:r>
            <a:r>
              <a:rPr lang="fr-CA"/>
              <a:t>. On ne soucie pas de la valeur de l’attribut.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A0C6B40-17AF-440C-8D42-AFF292E10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96" y="3648923"/>
            <a:ext cx="6187976" cy="960203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9BB167D-7652-4DFE-9592-AFDC319FC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572" y="4752909"/>
            <a:ext cx="3894157" cy="1280271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896773D-87E6-4725-8884-4A1AB81FE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376" y="3638533"/>
            <a:ext cx="2724796" cy="2341900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BD84C06-97F8-4C7F-9E74-A703D635BB8A}"/>
              </a:ext>
            </a:extLst>
          </p:cNvPr>
          <p:cNvSpPr txBox="1"/>
          <p:nvPr/>
        </p:nvSpPr>
        <p:spPr>
          <a:xfrm>
            <a:off x="0" y="6042755"/>
            <a:ext cx="600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hlinkClick r:id="rId5"/>
              </a:rPr>
              <a:t>https://www.w3schools.com/css/css_attribute_selectors.asp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207901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Priorité en CSS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D475CD-64F2-4C66-9AD8-987B7F252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sz="2800" b="1"/>
              <a:t> </a:t>
            </a:r>
            <a:r>
              <a:rPr lang="fr-CA" sz="2800" b="1">
                <a:solidFill>
                  <a:srgbClr val="81ADB6"/>
                </a:solidFill>
              </a:rPr>
              <a:t>CSS intraligne</a:t>
            </a:r>
            <a:r>
              <a:rPr lang="fr-CA" sz="2800"/>
              <a:t> &gt; </a:t>
            </a:r>
            <a:r>
              <a:rPr lang="fr-CA" sz="2800" b="1">
                <a:solidFill>
                  <a:srgbClr val="8197B6"/>
                </a:solidFill>
              </a:rPr>
              <a:t>ID</a:t>
            </a:r>
            <a:r>
              <a:rPr lang="fr-CA" sz="2800"/>
              <a:t> &gt; </a:t>
            </a:r>
            <a:r>
              <a:rPr lang="fr-CA" sz="2800" b="1">
                <a:solidFill>
                  <a:srgbClr val="7F7FBB"/>
                </a:solidFill>
              </a:rPr>
              <a:t>Classe, attributs, pseudo-classes</a:t>
            </a:r>
            <a:r>
              <a:rPr lang="fr-CA" sz="2800"/>
              <a:t> &gt; </a:t>
            </a:r>
            <a:r>
              <a:rPr lang="fr-CA" sz="2800" b="1"/>
              <a:t>Éléments, </a:t>
            </a:r>
            <a:r>
              <a:rPr lang="fr-CA" sz="2800" b="1">
                <a:solidFill>
                  <a:srgbClr val="F75A3B"/>
                </a:solidFill>
              </a:rPr>
              <a:t>pseudo-éléments</a:t>
            </a:r>
          </a:p>
          <a:p>
            <a:pPr lvl="1"/>
            <a:r>
              <a:rPr lang="fr-CA"/>
              <a:t>C’est quoi un </a:t>
            </a:r>
            <a:r>
              <a:rPr lang="fr-CA" b="1">
                <a:solidFill>
                  <a:srgbClr val="F75A3B"/>
                </a:solidFill>
              </a:rPr>
              <a:t>sélecteur pseudo-élément</a:t>
            </a:r>
            <a:r>
              <a:rPr lang="fr-CA"/>
              <a:t> ?</a:t>
            </a:r>
          </a:p>
          <a:p>
            <a:pPr lvl="2"/>
            <a:r>
              <a:rPr lang="fr-CA"/>
              <a:t>Syntaxe : sélecteur::pseudo-element</a:t>
            </a:r>
          </a:p>
          <a:p>
            <a:pPr lvl="1"/>
            <a:r>
              <a:rPr lang="fr-CA"/>
              <a:t>Exemple : </a:t>
            </a:r>
            <a:r>
              <a:rPr lang="fr-CA">
                <a:solidFill>
                  <a:srgbClr val="81ADB6"/>
                </a:solidFill>
              </a:rPr>
              <a:t>p</a:t>
            </a:r>
            <a:r>
              <a:rPr lang="fr-CA">
                <a:solidFill>
                  <a:srgbClr val="F75A3B"/>
                </a:solidFill>
              </a:rPr>
              <a:t>::first-letter</a:t>
            </a:r>
          </a:p>
          <a:p>
            <a:pPr lvl="1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DD832B1-BE74-4A55-AAE5-A6C799FF9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148" y="3212864"/>
            <a:ext cx="2972058" cy="1242168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4CDEA9E-7DFE-4937-981F-D45D13A0B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8" y="4766854"/>
            <a:ext cx="6956989" cy="1001385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FDA3B76-C2D8-4E56-A916-30D09EFDD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950" y="3724573"/>
            <a:ext cx="4479022" cy="2083058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FEA9ABB-1591-4FA0-A9ED-39BF86D15B78}"/>
              </a:ext>
            </a:extLst>
          </p:cNvPr>
          <p:cNvSpPr txBox="1"/>
          <p:nvPr/>
        </p:nvSpPr>
        <p:spPr>
          <a:xfrm>
            <a:off x="110018" y="5904411"/>
            <a:ext cx="8243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hlinkClick r:id="rId5"/>
              </a:rPr>
              <a:t>https://www.w3schools.com/css/css_pseudo_elements.asp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52620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Priorité en CSS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D475CD-64F2-4C66-9AD8-987B7F252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« En cas d’égalité, la </a:t>
            </a:r>
            <a:r>
              <a:rPr lang="fr-CA" b="1"/>
              <a:t>dernière règle</a:t>
            </a:r>
            <a:r>
              <a:rPr lang="fr-CA"/>
              <a:t> gagne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EABDAD1-0717-4CA4-BC1C-B33D04035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600" y="1637146"/>
            <a:ext cx="2591680" cy="1792986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D681971-54D7-4F53-9E3F-AFDE36890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374" y="1637146"/>
            <a:ext cx="3665538" cy="1493649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D5D6747-570B-45E9-A508-D9F76969C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374" y="3915757"/>
            <a:ext cx="4145639" cy="1912786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38C1078-C670-4C19-94F3-6BA07D541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12" y="3934365"/>
            <a:ext cx="5578323" cy="701101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CECFFC4-B64B-466D-9B6E-94C7BDD38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331" y="4866876"/>
            <a:ext cx="3126544" cy="1017367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BF7A02E-B216-4331-9F01-0B410EA1BF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8233" y="4858565"/>
            <a:ext cx="2965853" cy="1044071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D9F74D6-CAE0-493F-9801-3887CA916B40}"/>
              </a:ext>
            </a:extLst>
          </p:cNvPr>
          <p:cNvCxnSpPr>
            <a:cxnSpLocks/>
          </p:cNvCxnSpPr>
          <p:nvPr/>
        </p:nvCxnSpPr>
        <p:spPr>
          <a:xfrm flipH="1">
            <a:off x="2959945" y="4227545"/>
            <a:ext cx="762075" cy="912154"/>
          </a:xfrm>
          <a:prstGeom prst="straightConnector1">
            <a:avLst/>
          </a:prstGeom>
          <a:ln w="57150">
            <a:solidFill>
              <a:srgbClr val="A785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66C52F0E-E227-4E39-81DE-A29A437C7337}"/>
              </a:ext>
            </a:extLst>
          </p:cNvPr>
          <p:cNvCxnSpPr>
            <a:cxnSpLocks/>
          </p:cNvCxnSpPr>
          <p:nvPr/>
        </p:nvCxnSpPr>
        <p:spPr>
          <a:xfrm>
            <a:off x="4103058" y="4532347"/>
            <a:ext cx="180831" cy="532744"/>
          </a:xfrm>
          <a:prstGeom prst="straightConnector1">
            <a:avLst/>
          </a:prstGeom>
          <a:ln w="57150">
            <a:solidFill>
              <a:srgbClr val="A785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4849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79AF1-EBFD-4DA0-AFC9-E82C8F7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Priorité en CSS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D475CD-64F2-4C66-9AD8-987B7F252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05389"/>
          </a:xfrm>
        </p:spPr>
        <p:txBody>
          <a:bodyPr/>
          <a:lstStyle/>
          <a:p>
            <a:r>
              <a:rPr lang="fr-CA"/>
              <a:t> « CSS interne VS CSS externe : </a:t>
            </a:r>
            <a:r>
              <a:rPr lang="fr-CA" b="1"/>
              <a:t>CSS dernier gagne</a:t>
            </a:r>
            <a:r>
              <a:rPr lang="fr-CA"/>
              <a:t> »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B6DB878-59E3-4E01-AED4-E39F725DE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754" y="1594710"/>
            <a:ext cx="4320914" cy="1082134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49AD475-8FDD-474B-9575-F4DDE6074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49" y="3466849"/>
            <a:ext cx="4430968" cy="1044009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5E5FFFA-96F4-4AB6-AEBF-9F6E92AB0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614" y="4706121"/>
            <a:ext cx="2920471" cy="1470842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9858EEB-4000-4DC4-B821-B054443B0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240" y="3466849"/>
            <a:ext cx="4693920" cy="1061178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  <p:sp>
        <p:nvSpPr>
          <p:cNvPr id="21" name="Espace réservé du contenu 3">
            <a:extLst>
              <a:ext uri="{FF2B5EF4-FFF2-40B4-BE49-F238E27FC236}">
                <a16:creationId xmlns:a16="http://schemas.microsoft.com/office/drawing/2014/main" id="{E340DCEC-AB2A-44F1-90D0-B1EB6362FA30}"/>
              </a:ext>
            </a:extLst>
          </p:cNvPr>
          <p:cNvSpPr txBox="1">
            <a:spLocks/>
          </p:cNvSpPr>
          <p:nvPr/>
        </p:nvSpPr>
        <p:spPr>
          <a:xfrm>
            <a:off x="545272" y="2961460"/>
            <a:ext cx="4320914" cy="505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A785B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A785B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785B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A785B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A785B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400"/>
              <a:t>Cas 1 : interne avant externe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4529D0F3-3449-44AC-911E-BBFBD6406A55}"/>
              </a:ext>
            </a:extLst>
          </p:cNvPr>
          <p:cNvSpPr txBox="1">
            <a:spLocks/>
          </p:cNvSpPr>
          <p:nvPr/>
        </p:nvSpPr>
        <p:spPr>
          <a:xfrm>
            <a:off x="7032886" y="2961460"/>
            <a:ext cx="4320914" cy="505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A785B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A785B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785B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A785B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A785B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400"/>
              <a:t>Cas 2 : externe avant interne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A8595BE1-F1C8-48AB-B1C8-B4BDF0D85E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3001" y="4706121"/>
            <a:ext cx="3101609" cy="1554615"/>
          </a:xfrm>
          <a:prstGeom prst="rect">
            <a:avLst/>
          </a:prstGeom>
          <a:ln w="38100">
            <a:solidFill>
              <a:srgbClr val="A785B8"/>
            </a:solidFill>
          </a:ln>
        </p:spPr>
      </p:pic>
    </p:spTree>
    <p:extLst>
      <p:ext uri="{BB962C8B-B14F-4D97-AF65-F5344CB8AC3E}">
        <p14:creationId xmlns:p14="http://schemas.microsoft.com/office/powerpoint/2010/main" val="18687100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FBF3E00827D4439F695CE990D917D5" ma:contentTypeVersion="0" ma:contentTypeDescription="Crée un document." ma:contentTypeScope="" ma:versionID="ea33eddecf650c9ca46009dc8be034b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9028b6788f95684bad4f0cdee3402c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983B53-6380-4825-BA5E-E1C08B4352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E6F9CA-17EA-4225-8207-55E356B21B97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6CFAA0D-77E1-4A32-892A-85E2BA1902A7}"/>
</file>

<file path=docProps/app.xml><?xml version="1.0" encoding="utf-8"?>
<Properties xmlns="http://schemas.openxmlformats.org/officeDocument/2006/extended-properties" xmlns:vt="http://schemas.openxmlformats.org/officeDocument/2006/docPropsVTypes">
  <TotalTime>8459</TotalTime>
  <Words>2951</Words>
  <Application>Microsoft Office PowerPoint</Application>
  <PresentationFormat>Grand écran</PresentationFormat>
  <Paragraphs>406</Paragraphs>
  <Slides>58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58</vt:i4>
      </vt:variant>
    </vt:vector>
  </HeadingPairs>
  <TitlesOfParts>
    <vt:vector size="59" baseType="lpstr">
      <vt:lpstr>Thème Office</vt:lpstr>
      <vt:lpstr>Modèle en boîtes et positionnement</vt:lpstr>
      <vt:lpstr>Menu du jour</vt:lpstr>
      <vt:lpstr>Les boîtes</vt:lpstr>
      <vt:lpstr>Modèle de boîtes</vt:lpstr>
      <vt:lpstr>Modèle de boîtes</vt:lpstr>
      <vt:lpstr>Modèle de boîtes</vt:lpstr>
      <vt:lpstr>Modèle de boîtes</vt:lpstr>
      <vt:lpstr>Modèle de boîtes</vt:lpstr>
      <vt:lpstr>Modèle de boîtes</vt:lpstr>
      <vt:lpstr>Modèle de boîtes</vt:lpstr>
      <vt:lpstr>Modèle de boîtes</vt:lpstr>
      <vt:lpstr>Modèle de boîtes</vt:lpstr>
      <vt:lpstr>Modèle de boîtes</vt:lpstr>
      <vt:lpstr>Modèle de boîtes</vt:lpstr>
      <vt:lpstr>Modèle de boîtes</vt:lpstr>
      <vt:lpstr>Types de boîtes</vt:lpstr>
      <vt:lpstr>Types de boîtes</vt:lpstr>
      <vt:lpstr>Types de boîtes</vt:lpstr>
      <vt:lpstr>Types de boîtes</vt:lpstr>
      <vt:lpstr>Types de boîtes</vt:lpstr>
      <vt:lpstr>Types de boîtes</vt:lpstr>
      <vt:lpstr>Types de boîtes</vt:lpstr>
      <vt:lpstr>Types de boîtes</vt:lpstr>
      <vt:lpstr>Types de boîtes</vt:lpstr>
      <vt:lpstr>Types de boîtes</vt:lpstr>
      <vt:lpstr>Le positionnement</vt:lpstr>
      <vt:lpstr>Le positionnement</vt:lpstr>
      <vt:lpstr>Le positionnement</vt:lpstr>
      <vt:lpstr>Le positionnement</vt:lpstr>
      <vt:lpstr>Le positionnement</vt:lpstr>
      <vt:lpstr>Le positionnement</vt:lpstr>
      <vt:lpstr>Le positionnement</vt:lpstr>
      <vt:lpstr>Le positionnement</vt:lpstr>
      <vt:lpstr>Le positionnement</vt:lpstr>
      <vt:lpstr>Le positionnement</vt:lpstr>
      <vt:lpstr>Le positionnement</vt:lpstr>
      <vt:lpstr>Pseudo-classes</vt:lpstr>
      <vt:lpstr>Pseudo-classes</vt:lpstr>
      <vt:lpstr>Pseudo-classes</vt:lpstr>
      <vt:lpstr>Sélecteurs complexes</vt:lpstr>
      <vt:lpstr>Sélecteurs complexes</vt:lpstr>
      <vt:lpstr>Sélecteurs complexes</vt:lpstr>
      <vt:lpstr>Sélecteurs complexes</vt:lpstr>
      <vt:lpstr>Sélecteurs complexes</vt:lpstr>
      <vt:lpstr>Sélecteurs complexes</vt:lpstr>
      <vt:lpstr>Quelques règles CSS</vt:lpstr>
      <vt:lpstr>Quelques règles CSS</vt:lpstr>
      <vt:lpstr>Quelques règles CSS</vt:lpstr>
      <vt:lpstr>Quelques règles CSS</vt:lpstr>
      <vt:lpstr>Quelques règles CSS</vt:lpstr>
      <vt:lpstr>Quelques règles CSS</vt:lpstr>
      <vt:lpstr>Quelques règles CSS</vt:lpstr>
      <vt:lpstr>Priorité en CSS</vt:lpstr>
      <vt:lpstr>Priorité en CSS</vt:lpstr>
      <vt:lpstr>Priorité en CSS</vt:lpstr>
      <vt:lpstr>Priorité en CSS</vt:lpstr>
      <vt:lpstr>Priorité en CSS</vt:lpstr>
      <vt:lpstr>Priorité en CSS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Bel -</dc:creator>
  <cp:lastModifiedBy>Eric Mathieu</cp:lastModifiedBy>
  <cp:revision>842</cp:revision>
  <cp:lastPrinted>2022-03-01T21:51:10Z</cp:lastPrinted>
  <dcterms:created xsi:type="dcterms:W3CDTF">2020-12-01T19:15:38Z</dcterms:created>
  <dcterms:modified xsi:type="dcterms:W3CDTF">2025-08-20T20:25:44Z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0x010100FAFBF3E00827D4439F695CE990D917D5</vt:lpwstr>
  </property>
  <property fmtid="{D5CDD505-2E9C-101B-9397-08002B2CF9AE}" pid="3" name="MediaServiceImageTags">
    <vt:lpwstr/>
  </property>
  <property fmtid="{D5CDD505-2E9C-101B-9397-08002B2CF9AE}" pid="4" name="Order">
    <vt:r8>12800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_SourceUrl">
    <vt:lpwstr/>
  </property>
  <property fmtid="{D5CDD505-2E9C-101B-9397-08002B2CF9AE}" pid="12" name="_SharedFileIndex">
    <vt:lpwstr/>
  </property>
</Properties>
</file>